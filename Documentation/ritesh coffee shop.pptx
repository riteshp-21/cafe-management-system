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48" r:id="rId1"/>
  </p:sldMasterIdLst>
  <p:notesMasterIdLst>
    <p:notesMasterId r:id="rId2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 id="272" r:id="rId16"/>
    <p:sldId id="273" r:id="rId17"/>
    <p:sldId id="274" r:id="rId18"/>
    <p:sldId id="275" r:id="rId19"/>
  </p:sldIdLst>
  <p:sldSz cx="9144000" cy="6858000" type="screen4x3"/>
  <p:notesSz cx="6858000" cy="9144000"/>
  <p:defaultTextStyle>
    <a:lvl1pPr marL="0" indent="0" algn="l" rtl="0" eaLnBrk="0" fontAlgn="base" latinLnBrk="0" hangingPunct="0">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0" fontAlgn="base" latinLnBrk="0" hangingPunct="0">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0" fontAlgn="base" latinLnBrk="0" hangingPunct="0">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0" fontAlgn="base" latinLnBrk="0" hangingPunct="0">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0" fontAlgn="base" latinLnBrk="0" hangingPunct="0">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6"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667"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668"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669"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0"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671"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p:bg>
      <p:bgPr>
        <a:pattFill prst="ltHorz">
          <a:fgClr>
            <a:schemeClr val="dk2"/>
          </a:fgClr>
          <a:bgClr>
            <a:schemeClr val="lt1"/>
          </a:bgClr>
        </a:pattFill>
        <a:effectLst/>
      </p:bgPr>
    </p:bg>
    <p:spTree>
      <p:nvGrpSpPr>
        <p:cNvPr id="1" name=""/>
        <p:cNvGrpSpPr/>
        <p:nvPr/>
      </p:nvGrpSpPr>
      <p:grpSpPr>
        <a:xfrm>
          <a:off x="0" y="0"/>
          <a:ext cx="0" cy="0"/>
          <a:chOff x="0" y="0"/>
          <a:chExt cx="0" cy="0"/>
        </a:xfrm>
      </p:grpSpPr>
      <p:sp>
        <p:nvSpPr>
          <p:cNvPr id="1048596" name="AutoShape 7"/>
          <p:cNvSpPr/>
          <p:nvPr/>
        </p:nvSpPr>
        <p:spPr bwMode="auto">
          <a:xfrm>
            <a:off x="685800" y="2393950"/>
            <a:ext cx="7772400" cy="109537"/>
          </a:xfrm>
          <a:custGeom>
            <a:avLst/>
            <a:gdLst/>
            <a:ahLst/>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ln>
        </p:spPr>
      </p:sp>
      <p:sp>
        <p:nvSpPr>
          <p:cNvPr id="1048597" name="Rectangle 9"/>
          <p:cNvSpPr>
            <a:spLocks noGrp="1"/>
          </p:cNvSpPr>
          <p:nvPr>
            <p:ph type="dt" sz="half" idx="2"/>
          </p:nvPr>
        </p:nvSpPr>
        <p:spPr>
          <a:xfrm>
            <a:off x="685800" y="6248400"/>
            <a:ext cx="1905000" cy="45720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598" name="Rectangle 10"/>
          <p:cNvSpPr>
            <a:spLocks noGrp="1"/>
          </p:cNvSpPr>
          <p:nvPr>
            <p:ph type="ftr" sz="quarter" idx="3"/>
          </p:nvPr>
        </p:nvSpPr>
        <p:spPr>
          <a:xfrm>
            <a:off x="3124200" y="6248400"/>
            <a:ext cx="2895600" cy="45720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
        <p:nvSpPr>
          <p:cNvPr id="1048599" name="Rectangle 11"/>
          <p:cNvSpPr>
            <a:spLocks noGrp="1"/>
          </p:cNvSpPr>
          <p:nvPr>
            <p:ph type="sldNum" sz="quarter" idx="4"/>
          </p:nvPr>
        </p:nvSpPr>
        <p:spPr>
          <a:xfrm>
            <a:off x="6553200" y="6248400"/>
            <a:ext cx="1905000" cy="45720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00"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1048601"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3" name="Title 1"/>
          <p:cNvSpPr>
            <a:spLocks noGrp="1"/>
          </p:cNvSpPr>
          <p:nvPr>
            <p:ph type="title"/>
          </p:nvPr>
        </p:nvSpPr>
        <p:spPr/>
        <p:txBody>
          <a:bodyPr/>
          <a:lstStyle/>
          <a:p>
            <a:r>
              <a:rPr lang="en-US"/>
              <a:t>Click to edit Master title style</a:t>
            </a:r>
          </a:p>
        </p:txBody>
      </p:sp>
      <p:sp>
        <p:nvSpPr>
          <p:cNvPr id="1048584"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5" name="Rectangle 6"/>
          <p:cNvSpPr>
            <a:spLocks noGrp="1"/>
          </p:cNvSpPr>
          <p:nvPr>
            <p:ph type="dt" sz="half" idx="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586"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587"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4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4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048649" name="Rectangle 6"/>
          <p:cNvSpPr>
            <a:spLocks noGrp="1"/>
          </p:cNvSpPr>
          <p:nvPr>
            <p:ph type="dt" sz="half" idx="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50"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51"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04" name="Title 1"/>
          <p:cNvSpPr>
            <a:spLocks noGrp="1"/>
          </p:cNvSpPr>
          <p:nvPr>
            <p:ph type="title"/>
          </p:nvPr>
        </p:nvSpPr>
        <p:spPr/>
        <p:txBody>
          <a:bodyPr/>
          <a:lstStyle/>
          <a:p>
            <a:r>
              <a:rPr lang="en-US"/>
              <a:t>Click to edit Master title style</a:t>
            </a:r>
          </a:p>
        </p:txBody>
      </p:sp>
      <p:sp>
        <p:nvSpPr>
          <p:cNvPr id="1048605"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6"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7" name="Rectangle 6"/>
          <p:cNvSpPr>
            <a:spLocks noGrp="1"/>
          </p:cNvSpPr>
          <p:nvPr>
            <p:ph type="dt" sz="half" idx="1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08"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09"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2" name="Title 1"/>
          <p:cNvSpPr>
            <a:spLocks noGrp="1"/>
          </p:cNvSpPr>
          <p:nvPr>
            <p:ph type="title"/>
          </p:nvPr>
        </p:nvSpPr>
        <p:spPr>
          <a:xfrm>
            <a:off x="457200" y="274638"/>
            <a:ext cx="8229600" cy="1143000"/>
          </a:xfrm>
        </p:spPr>
        <p:txBody>
          <a:bodyPr/>
          <a:lstStyle/>
          <a:p>
            <a:r>
              <a:rPr lang="en-US"/>
              <a:t>Click to edit Master title style</a:t>
            </a:r>
          </a:p>
        </p:txBody>
      </p:sp>
      <p:sp>
        <p:nvSpPr>
          <p:cNvPr id="104865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7" name="Rectangle 6"/>
          <p:cNvSpPr>
            <a:spLocks noGrp="1"/>
          </p:cNvSpPr>
          <p:nvPr>
            <p:ph type="dt" sz="half" idx="1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58" name="Rectangle 8"/>
          <p:cNvSpPr>
            <a:spLocks noGrp="1"/>
          </p:cNvSpPr>
          <p:nvPr>
            <p:ph type="sldNum" sz="quarter" idx="1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59" name="Rectangle 7"/>
          <p:cNvSpPr>
            <a:spLocks noGrp="1"/>
          </p:cNvSpPr>
          <p:nvPr>
            <p:ph type="ftr" sz="quarter" idx="1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27" name="Title 1"/>
          <p:cNvSpPr>
            <a:spLocks noGrp="1"/>
          </p:cNvSpPr>
          <p:nvPr>
            <p:ph type="title"/>
          </p:nvPr>
        </p:nvSpPr>
        <p:spPr/>
        <p:txBody>
          <a:bodyPr/>
          <a:lstStyle/>
          <a:p>
            <a:r>
              <a:rPr lang="en-US"/>
              <a:t>Click to edit Master title style</a:t>
            </a:r>
          </a:p>
        </p:txBody>
      </p:sp>
      <p:sp>
        <p:nvSpPr>
          <p:cNvPr id="1048628" name="Rectangle 6"/>
          <p:cNvSpPr>
            <a:spLocks noGrp="1"/>
          </p:cNvSpPr>
          <p:nvPr>
            <p:ph type="dt" sz="half" idx="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29"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30"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17" name="Rectangle 6"/>
          <p:cNvSpPr>
            <a:spLocks noGrp="1"/>
          </p:cNvSpPr>
          <p:nvPr>
            <p:ph type="dt" sz="half" idx="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18"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19"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60"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104866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63" name="Rectangle 6"/>
          <p:cNvSpPr>
            <a:spLocks noGrp="1"/>
          </p:cNvSpPr>
          <p:nvPr>
            <p:ph type="dt" sz="half" idx="1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64"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65"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36"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1048637"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1048638"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39" name="Rectangle 6"/>
          <p:cNvSpPr>
            <a:spLocks noGrp="1"/>
          </p:cNvSpPr>
          <p:nvPr>
            <p:ph type="dt" sz="half" idx="1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40"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41"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42" name="Title 1"/>
          <p:cNvSpPr>
            <a:spLocks noGrp="1"/>
          </p:cNvSpPr>
          <p:nvPr>
            <p:ph type="title"/>
          </p:nvPr>
        </p:nvSpPr>
        <p:spPr/>
        <p:txBody>
          <a:bodyPr/>
          <a:lstStyle/>
          <a:p>
            <a:r>
              <a:rPr lang="en-US"/>
              <a:t>Click to edit Master title style</a:t>
            </a:r>
          </a:p>
        </p:txBody>
      </p:sp>
      <p:sp>
        <p:nvSpPr>
          <p:cNvPr id="104864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4" name="Rectangle 6"/>
          <p:cNvSpPr>
            <a:spLocks noGrp="1"/>
          </p:cNvSpPr>
          <p:nvPr>
            <p:ph type="dt" sz="half" idx="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45"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46"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31" name="Vertical Title 1"/>
          <p:cNvSpPr>
            <a:spLocks noGrp="1"/>
          </p:cNvSpPr>
          <p:nvPr>
            <p:ph type="title" orient="vert"/>
          </p:nvPr>
        </p:nvSpPr>
        <p:spPr>
          <a:xfrm>
            <a:off x="6573838" y="304800"/>
            <a:ext cx="2001837" cy="5715000"/>
          </a:xfrm>
        </p:spPr>
        <p:txBody>
          <a:bodyPr vert="eaVert"/>
          <a:lstStyle/>
          <a:p>
            <a:r>
              <a:rPr lang="en-US"/>
              <a:t>Click to edit Master title style</a:t>
            </a:r>
          </a:p>
        </p:txBody>
      </p:sp>
      <p:sp>
        <p:nvSpPr>
          <p:cNvPr id="1048632" name="Vertical Text Placeholder 2"/>
          <p:cNvSpPr>
            <a:spLocks noGrp="1"/>
          </p:cNvSpPr>
          <p:nvPr>
            <p:ph type="body" orient="vert" idx="1"/>
          </p:nvPr>
        </p:nvSpPr>
        <p:spPr>
          <a:xfrm>
            <a:off x="566738"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3" name="Rectangle 6"/>
          <p:cNvSpPr>
            <a:spLocks noGrp="1"/>
          </p:cNvSpPr>
          <p:nvPr>
            <p:ph type="dt" sz="half" idx="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634"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
        <p:nvSpPr>
          <p:cNvPr id="1048635"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dk2"/>
          </a:fgClr>
          <a:bgClr>
            <a:schemeClr val="lt1"/>
          </a:bgClr>
        </a:pattFill>
        <a:effectLst/>
      </p:bgPr>
    </p:bg>
    <p:spTree>
      <p:nvGrpSpPr>
        <p:cNvPr id="1" name=""/>
        <p:cNvGrpSpPr/>
        <p:nvPr/>
      </p:nvGrpSpPr>
      <p:grpSpPr>
        <a:xfrm>
          <a:off x="0" y="0"/>
          <a:ext cx="0" cy="0"/>
          <a:chOff x="0" y="0"/>
          <a:chExt cx="0" cy="0"/>
        </a:xfrm>
      </p:grpSpPr>
      <p:sp>
        <p:nvSpPr>
          <p:cNvPr id="1048576" name="Rectangle 2"/>
          <p:cNvSpPr>
            <a:spLocks noGrp="1"/>
          </p:cNvSpPr>
          <p:nvPr>
            <p:ph type="title"/>
          </p:nvPr>
        </p:nvSpPr>
        <p:spPr>
          <a:xfrm>
            <a:off x="574675" y="304800"/>
            <a:ext cx="8001000" cy="1216025"/>
          </a:xfrm>
          <a:prstGeom prst="rect">
            <a:avLst/>
          </a:prstGeom>
          <a:noFill/>
          <a:ln>
            <a:noFill/>
          </a:ln>
        </p:spPr>
        <p:txBody>
          <a:bodyPr vert="horz" lIns="91440" tIns="45720" rIns="91440" bIns="45720" anchor="b"/>
          <a:lstStyle/>
          <a:p>
            <a:pPr lvl="0"/>
            <a:r>
              <a:rPr lang="en-US" altLang="en-US"/>
              <a:t>Click to edit Master title style</a:t>
            </a:r>
          </a:p>
        </p:txBody>
      </p:sp>
      <p:sp>
        <p:nvSpPr>
          <p:cNvPr id="1048577" name="Rectangle 3"/>
          <p:cNvSpPr>
            <a:spLocks noGrp="1"/>
          </p:cNvSpPr>
          <p:nvPr>
            <p:ph type="body" idx="1"/>
          </p:nvPr>
        </p:nvSpPr>
        <p:spPr>
          <a:xfrm>
            <a:off x="566737" y="1752600"/>
            <a:ext cx="8001000" cy="4267200"/>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578" name="AutoShape 4"/>
          <p:cNvSpPr/>
          <p:nvPr/>
        </p:nvSpPr>
        <p:spPr bwMode="auto">
          <a:xfrm>
            <a:off x="609600" y="1566862"/>
            <a:ext cx="7958137" cy="109537"/>
          </a:xfrm>
          <a:custGeom>
            <a:avLst/>
            <a:gdLst/>
            <a:ahLst/>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ln>
        </p:spPr>
      </p:sp>
      <p:sp>
        <p:nvSpPr>
          <p:cNvPr id="1048579" name="Line 5"/>
          <p:cNvSpPr/>
          <p:nvPr/>
        </p:nvSpPr>
        <p:spPr>
          <a:xfrm flipV="1">
            <a:off x="609600" y="6172200"/>
            <a:ext cx="7924800" cy="0"/>
          </a:xfrm>
          <a:prstGeom prst="line">
            <a:avLst/>
          </a:prstGeom>
          <a:noFill/>
          <a:ln w="3175" cap="flat" cmpd="sng">
            <a:solidFill>
              <a:schemeClr val="accent2">
                <a:alpha val="100000"/>
              </a:schemeClr>
            </a:solidFill>
            <a:prstDash val="solid"/>
            <a:round/>
          </a:ln>
        </p:spPr>
      </p:sp>
      <p:sp>
        <p:nvSpPr>
          <p:cNvPr id="1048580" name="Rectangle 6"/>
          <p:cNvSpPr>
            <a:spLocks noGrp="1"/>
          </p:cNvSpPr>
          <p:nvPr>
            <p:ph type="dt" sz="half" idx="2"/>
          </p:nvPr>
        </p:nvSpPr>
        <p:spPr>
          <a:xfrm>
            <a:off x="6096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eaLnBrk="1" hangingPunct="1"/>
            <a:endParaRPr lang="en-US" altLang="en-US" sz="1200"/>
          </a:p>
        </p:txBody>
      </p:sp>
      <p:sp>
        <p:nvSpPr>
          <p:cNvPr id="1048581" name="Rectangle 7"/>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ctr" eaLnBrk="1" hangingPunct="1"/>
            <a:endParaRPr lang="en-US" altLang="en-US" sz="1200"/>
          </a:p>
        </p:txBody>
      </p:sp>
      <p:sp>
        <p:nvSpPr>
          <p:cNvPr id="1048582" name="Rectangle 8"/>
          <p:cNvSpPr>
            <a:spLocks noGrp="1"/>
          </p:cNvSpPr>
          <p:nvPr>
            <p:ph type="sldNum" sz="quarter" idx="4"/>
          </p:nvPr>
        </p:nvSpPr>
        <p:spPr>
          <a:xfrm>
            <a:off x="6553200" y="6245225"/>
            <a:ext cx="19812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Verdana" panose="020B0604030504040204" pitchFamily="34" charset="0"/>
                <a:sym typeface="Verdana" panose="020B0604030504040204" pitchFamily="34" charset="0"/>
              </a:defRPr>
            </a:lvl5pPr>
          </a:lstStyle>
          <a:p>
            <a:pPr lvl="0" algn="r" eaLnBrk="1" hangingPunct="1"/>
            <a:fld id="{566ABCEB-ACFC-4714-9973-3DA970169C29}" type="slidenum">
              <a:rPr lang="en-US" altLang="en-US" sz="1200"/>
              <a:t>‹#›</a:t>
            </a:fld>
            <a:endParaRPr lang="en-US" altLang="en-US" sz="120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Rectangle 6"/>
          <p:cNvSpPr>
            <a:spLocks noGrp="1"/>
          </p:cNvSpPr>
          <p:nvPr>
            <p:ph type="ctrTitle" idx="4294967295"/>
          </p:nvPr>
        </p:nvSpPr>
        <p:spPr>
          <a:xfrm>
            <a:off x="685800" y="990600"/>
            <a:ext cx="7772400" cy="1371600"/>
          </a:xfrm>
          <a:prstGeom prst="rect">
            <a:avLst/>
          </a:prstGeom>
          <a:noFill/>
          <a:ln>
            <a:noFill/>
          </a:ln>
        </p:spPr>
        <p:txBody>
          <a:bodyPr vert="horz" lIns="91440" tIns="45720" rIns="91440" bIns="45720" anchor="b"/>
          <a:lstStyle>
            <a:lvl1pPr algn="l">
              <a:defRPr sz="3800"/>
            </a:lvl1pPr>
          </a:lstStyle>
          <a:p>
            <a:pPr lvl="0" algn="ctr" eaLnBrk="1" hangingPunct="1"/>
            <a:r>
              <a:rPr lang="en-US" altLang="en-US" sz="4000">
                <a:solidFill>
                  <a:srgbClr val="000099"/>
                </a:solidFill>
              </a:rPr>
              <a:t>Modern College of Arts,Science &amp; Commerce</a:t>
            </a:r>
          </a:p>
        </p:txBody>
      </p:sp>
      <p:sp>
        <p:nvSpPr>
          <p:cNvPr id="1048603" name="Rectangle 7"/>
          <p:cNvSpPr>
            <a:spLocks noGrp="1"/>
          </p:cNvSpPr>
          <p:nvPr>
            <p:ph type="subTitle" idx="4294967295"/>
          </p:nvPr>
        </p:nvSpPr>
        <p:spPr>
          <a:xfrm>
            <a:off x="685800" y="2667000"/>
            <a:ext cx="7772400" cy="3810000"/>
          </a:xfrm>
          <a:prstGeom prst="rect">
            <a:avLst/>
          </a:prstGeom>
          <a:noFill/>
          <a:ln>
            <a:noFill/>
          </a:ln>
        </p:spPr>
        <p:txBody>
          <a:bodyPr vert="horz" lIns="91440" tIns="45720" rIns="91440" bIns="45720" anchor="t"/>
          <a:lstStyle>
            <a:lvl1pPr marL="0" algn="ctr">
              <a:buNone/>
              <a:defRPr sz="3000">
                <a:solidFill>
                  <a:schemeClr val="dk1"/>
                </a:solidFill>
              </a:defRPr>
            </a:lvl1pPr>
            <a:lvl2pPr marL="471170" algn="ctr">
              <a:buNone/>
            </a:lvl2pPr>
            <a:lvl3pPr marL="909320" algn="ctr">
              <a:buNone/>
            </a:lvl3pPr>
            <a:lvl4pPr marL="1306195" algn="ctr">
              <a:buNone/>
            </a:lvl4pPr>
            <a:lvl5pPr marL="1695450" algn="ctr">
              <a:buNone/>
            </a:lvl5pPr>
          </a:lstStyle>
          <a:p>
            <a:pPr lvl="0" algn="l" eaLnBrk="1" hangingPunct="1">
              <a:buNone/>
            </a:pPr>
            <a:endParaRPr lang="en-US" altLang="en-US" sz="2800" dirty="0"/>
          </a:p>
          <a:p>
            <a:pPr lvl="0" algn="l" eaLnBrk="1" hangingPunct="1">
              <a:buNone/>
            </a:pPr>
            <a:r>
              <a:rPr lang="en-US" altLang="en-US" sz="3200" b="1" i="1" dirty="0"/>
              <a:t>	    	Coffee Shop Management </a:t>
            </a:r>
            <a:endParaRPr lang="en-US" altLang="en-US" sz="4000" b="1" i="1" u="sng" dirty="0"/>
          </a:p>
          <a:p>
            <a:pPr lvl="0" algn="l" eaLnBrk="1" hangingPunct="1">
              <a:buNone/>
            </a:pPr>
            <a:r>
              <a:rPr lang="en-US" altLang="en-US" sz="2400" b="1" i="1" u="sng" dirty="0"/>
              <a:t>By-</a:t>
            </a:r>
          </a:p>
          <a:p>
            <a:pPr lvl="0" algn="l" eaLnBrk="1" hangingPunct="1">
              <a:buNone/>
            </a:pPr>
            <a:endParaRPr lang="en-US" altLang="en-US" sz="2400" b="1" i="1" u="sng" dirty="0"/>
          </a:p>
          <a:p>
            <a:pPr lvl="0" algn="l" eaLnBrk="1" hangingPunct="1">
              <a:buNone/>
            </a:pPr>
            <a:r>
              <a:rPr lang="en-US" altLang="en-US" sz="2400" b="1" i="1" dirty="0"/>
              <a:t>Name : Ritesh Ramdas </a:t>
            </a:r>
            <a:r>
              <a:rPr lang="en-US" altLang="en-US" sz="2400" b="1" i="1" dirty="0" err="1"/>
              <a:t>Pokharkar</a:t>
            </a:r>
            <a:endParaRPr lang="zh-CN" altLang="en-US" dirty="0"/>
          </a:p>
          <a:p>
            <a:pPr lvl="0" algn="l" eaLnBrk="1" hangingPunct="1">
              <a:buNone/>
            </a:pPr>
            <a:r>
              <a:rPr lang="en-US" altLang="en-US" sz="2400" b="1" i="1" dirty="0"/>
              <a:t>Enrollment No: </a:t>
            </a:r>
            <a:r>
              <a:rPr lang="en-US" altLang="en-US" sz="2400" i="1" dirty="0"/>
              <a:t>2102894</a:t>
            </a:r>
            <a:endParaRPr lang="zh-CN" altLang="en-US" dirty="0"/>
          </a:p>
          <a:p>
            <a:pPr lvl="0" algn="l" eaLnBrk="1" hangingPunct="1">
              <a:buNone/>
            </a:pPr>
            <a:endParaRPr lang="en-US" altLang="en-US" sz="2400" i="1" u="sng" dirty="0"/>
          </a:p>
          <a:p>
            <a:pPr lvl="0" algn="l" eaLnBrk="1" hangingPunct="1">
              <a:buNone/>
            </a:pPr>
            <a:endParaRPr lang="en-US" altLang="en-US" sz="3200" i="1" u="sng"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Rectangle 5"/>
          <p:cNvSpPr>
            <a:spLocks noGrp="1"/>
          </p:cNvSpPr>
          <p:nvPr>
            <p:ph type="title"/>
          </p:nvPr>
        </p:nvSpPr>
        <p:spPr>
          <a:xfrm>
            <a:off x="1022350" y="659920"/>
            <a:ext cx="3013075" cy="6826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sz="3400">
                <a:solidFill>
                  <a:schemeClr val="dk1"/>
                </a:solidFill>
                <a:latin typeface="Times New Roman" panose="02020603050405020304" pitchFamily="18" charset="0"/>
              </a:rPr>
              <a:t>		</a:t>
            </a:r>
            <a:r>
              <a:rPr lang="en-US" altLang="en-US" sz="3400">
                <a:solidFill>
                  <a:srgbClr val="000099"/>
                </a:solidFill>
                <a:latin typeface="Times New Roman" panose="02020603050405020304" pitchFamily="18" charset="0"/>
              </a:rPr>
              <a:t>	</a:t>
            </a:r>
            <a:r>
              <a:rPr lang="en-US" altLang="en-US" sz="4000">
                <a:solidFill>
                  <a:srgbClr val="000099"/>
                </a:solidFill>
                <a:latin typeface="Times New Roman" panose="02020603050405020304" pitchFamily="18" charset="0"/>
              </a:rPr>
              <a:t>Agenda</a:t>
            </a:r>
          </a:p>
        </p:txBody>
      </p:sp>
      <p:sp>
        <p:nvSpPr>
          <p:cNvPr id="1048611" name="Rectangle 4"/>
          <p:cNvSpPr>
            <a:spLocks noGrp="1"/>
          </p:cNvSpPr>
          <p:nvPr>
            <p:ph type="body" sz="half" idx="1"/>
          </p:nvPr>
        </p:nvSpPr>
        <p:spPr>
          <a:xfrm>
            <a:off x="566737" y="2057400"/>
            <a:ext cx="3924300" cy="4267200"/>
          </a:xfrm>
          <a:prstGeom prst="rect">
            <a:avLst/>
          </a:prstGeom>
          <a:noFill/>
          <a:ln>
            <a:noFill/>
          </a:ln>
        </p:spPr>
        <p:txBody>
          <a:bodyPr vert="horz" lIns="91440" tIns="45720" rIns="91440" bIns="45720" anchor="t"/>
          <a:lstStyle>
            <a:lvl1pPr marL="469900" indent="-469900">
              <a:lnSpc>
                <a:spcPct val="100000"/>
              </a:lnSpc>
              <a:spcBef>
                <a:spcPct val="20000"/>
              </a:spcBef>
              <a:spcAft>
                <a:spcPct val="0"/>
              </a:spcAft>
              <a:buClr>
                <a:schemeClr val="accent2"/>
              </a:buClr>
              <a:buFont typeface="Wingdings" panose="05000000000000000000" pitchFamily="2" charset="2"/>
              <a:buChar char="o"/>
              <a:defRPr sz="2600">
                <a:solidFill>
                  <a:schemeClr val="dk1"/>
                </a:solidFill>
              </a:defRPr>
            </a:lvl1pPr>
            <a:lvl2pPr marL="908050" indent="-436880">
              <a:lnSpc>
                <a:spcPct val="100000"/>
              </a:lnSpc>
              <a:spcBef>
                <a:spcPct val="20000"/>
              </a:spcBef>
              <a:spcAft>
                <a:spcPct val="0"/>
              </a:spcAft>
              <a:buClr>
                <a:schemeClr val="accent2"/>
              </a:buClr>
              <a:buFont typeface="Wingdings" panose="05000000000000000000" pitchFamily="2" charset="2"/>
              <a:buChar char="n"/>
              <a:defRPr sz="2200">
                <a:solidFill>
                  <a:schemeClr val="dk1"/>
                </a:solidFill>
              </a:defRPr>
            </a:lvl2pPr>
            <a:lvl3pPr marL="1304925" indent="-395605">
              <a:lnSpc>
                <a:spcPct val="100000"/>
              </a:lnSpc>
              <a:spcBef>
                <a:spcPct val="20000"/>
              </a:spcBef>
              <a:spcAft>
                <a:spcPct val="0"/>
              </a:spcAft>
              <a:buClr>
                <a:schemeClr val="accent2"/>
              </a:buClr>
              <a:buFont typeface="Wingdings" panose="05000000000000000000" pitchFamily="2" charset="2"/>
              <a:buChar char="o"/>
              <a:defRPr sz="2100">
                <a:solidFill>
                  <a:schemeClr val="dk1"/>
                </a:solidFill>
              </a:defRPr>
            </a:lvl3pPr>
            <a:lvl4pPr marL="1693545" indent="-387350">
              <a:lnSpc>
                <a:spcPct val="100000"/>
              </a:lnSpc>
              <a:spcBef>
                <a:spcPct val="20000"/>
              </a:spcBef>
              <a:spcAft>
                <a:spcPct val="0"/>
              </a:spcAft>
              <a:buClr>
                <a:schemeClr val="accent2"/>
              </a:buClr>
              <a:buFont typeface="Wingdings" panose="05000000000000000000" pitchFamily="2" charset="2"/>
              <a:buChar char="n"/>
              <a:defRPr sz="1800">
                <a:solidFill>
                  <a:schemeClr val="dk1"/>
                </a:solidFill>
              </a:defRPr>
            </a:lvl4pPr>
            <a:lvl5pPr marL="2093595" indent="-398145">
              <a:lnSpc>
                <a:spcPct val="100000"/>
              </a:lnSpc>
              <a:spcBef>
                <a:spcPct val="25000"/>
              </a:spcBef>
              <a:spcAft>
                <a:spcPct val="0"/>
              </a:spcAft>
              <a:buClr>
                <a:schemeClr val="accent2"/>
              </a:buClr>
              <a:buFont typeface="Wingdings" panose="05000000000000000000" pitchFamily="2" charset="2"/>
              <a:buChar char="§"/>
              <a:defRPr sz="1800">
                <a:solidFill>
                  <a:schemeClr val="dk1"/>
                </a:solidFill>
              </a:defRPr>
            </a:lvl5pPr>
          </a:lstStyle>
          <a:p>
            <a:pPr lvl="0" eaLnBrk="1" hangingPunct="1"/>
            <a:r>
              <a:rPr lang="en-US" altLang="en-US" sz="2400"/>
              <a:t>System Overview</a:t>
            </a:r>
          </a:p>
          <a:p>
            <a:pPr lvl="0" eaLnBrk="1" hangingPunct="1"/>
            <a:r>
              <a:rPr lang="en-US" altLang="en-US" sz="2400"/>
              <a:t>Technologies Used</a:t>
            </a:r>
          </a:p>
          <a:p>
            <a:pPr lvl="0" eaLnBrk="1" hangingPunct="1"/>
            <a:r>
              <a:rPr lang="en-US" altLang="en-US" sz="2400"/>
              <a:t>Problem definition</a:t>
            </a:r>
          </a:p>
          <a:p>
            <a:pPr lvl="0" eaLnBrk="1" hangingPunct="1"/>
            <a:r>
              <a:rPr lang="en-US" altLang="en-US" sz="2400"/>
              <a:t>Limitation of manual system</a:t>
            </a:r>
          </a:p>
          <a:p>
            <a:pPr lvl="0" eaLnBrk="1" hangingPunct="1"/>
            <a:r>
              <a:rPr lang="en-US" altLang="en-US" sz="2400"/>
              <a:t>Proposed System</a:t>
            </a:r>
          </a:p>
          <a:p>
            <a:pPr lvl="0" eaLnBrk="1" hangingPunct="1">
              <a:buNone/>
            </a:pPr>
            <a:endParaRPr lang="en-US" altLang="en-US" sz="2400"/>
          </a:p>
          <a:p>
            <a:pPr lvl="0" eaLnBrk="1" hangingPunct="1">
              <a:buNone/>
            </a:pPr>
            <a:endParaRPr lang="en-US" altLang="en-US" sz="2400"/>
          </a:p>
          <a:p>
            <a:pPr lvl="0" eaLnBrk="1" hangingPunct="1"/>
            <a:endParaRPr lang="en-US" altLang="en-US" sz="2400"/>
          </a:p>
          <a:p>
            <a:pPr lvl="0" eaLnBrk="1" hangingPunct="1"/>
            <a:endParaRPr lang="en-US" altLang="en-US"/>
          </a:p>
          <a:p>
            <a:pPr lvl="0" eaLnBrk="1" hangingPunct="1">
              <a:buNone/>
            </a:pPr>
            <a:endParaRPr lang="en-US" altLang="en-US">
              <a:latin typeface="Times New Roman" panose="02020603050405020304" pitchFamily="18" charset="0"/>
            </a:endParaRPr>
          </a:p>
        </p:txBody>
      </p:sp>
      <p:sp>
        <p:nvSpPr>
          <p:cNvPr id="1048612" name="Rectangle 7"/>
          <p:cNvSpPr>
            <a:spLocks noGrp="1"/>
          </p:cNvSpPr>
          <p:nvPr>
            <p:ph type="body" sz="half" idx="2"/>
          </p:nvPr>
        </p:nvSpPr>
        <p:spPr>
          <a:xfrm>
            <a:off x="4643437" y="2057400"/>
            <a:ext cx="3924300" cy="4267200"/>
          </a:xfrm>
          <a:prstGeom prst="rect">
            <a:avLst/>
          </a:prstGeom>
          <a:noFill/>
          <a:ln>
            <a:noFill/>
          </a:ln>
        </p:spPr>
        <p:txBody>
          <a:bodyPr vert="horz" lIns="91440" tIns="45720" rIns="91440" bIns="45720" anchor="t"/>
          <a:lstStyle>
            <a:lvl1pPr marL="469900" indent="-469900">
              <a:lnSpc>
                <a:spcPct val="100000"/>
              </a:lnSpc>
              <a:spcBef>
                <a:spcPct val="20000"/>
              </a:spcBef>
              <a:spcAft>
                <a:spcPct val="0"/>
              </a:spcAft>
              <a:buClr>
                <a:schemeClr val="accent2"/>
              </a:buClr>
              <a:buFont typeface="Wingdings" panose="05000000000000000000" pitchFamily="2" charset="2"/>
              <a:buChar char="o"/>
              <a:defRPr sz="2600">
                <a:solidFill>
                  <a:schemeClr val="dk1"/>
                </a:solidFill>
              </a:defRPr>
            </a:lvl1pPr>
            <a:lvl2pPr marL="908050" indent="-436880">
              <a:lnSpc>
                <a:spcPct val="100000"/>
              </a:lnSpc>
              <a:spcBef>
                <a:spcPct val="20000"/>
              </a:spcBef>
              <a:spcAft>
                <a:spcPct val="0"/>
              </a:spcAft>
              <a:buClr>
                <a:schemeClr val="accent2"/>
              </a:buClr>
              <a:buFont typeface="Wingdings" panose="05000000000000000000" pitchFamily="2" charset="2"/>
              <a:buChar char="n"/>
              <a:defRPr sz="2200">
                <a:solidFill>
                  <a:schemeClr val="dk1"/>
                </a:solidFill>
              </a:defRPr>
            </a:lvl2pPr>
            <a:lvl3pPr marL="1304925" indent="-395605">
              <a:lnSpc>
                <a:spcPct val="100000"/>
              </a:lnSpc>
              <a:spcBef>
                <a:spcPct val="20000"/>
              </a:spcBef>
              <a:spcAft>
                <a:spcPct val="0"/>
              </a:spcAft>
              <a:buClr>
                <a:schemeClr val="accent2"/>
              </a:buClr>
              <a:buFont typeface="Wingdings" panose="05000000000000000000" pitchFamily="2" charset="2"/>
              <a:buChar char="o"/>
              <a:defRPr sz="2100">
                <a:solidFill>
                  <a:schemeClr val="dk1"/>
                </a:solidFill>
              </a:defRPr>
            </a:lvl3pPr>
            <a:lvl4pPr marL="1693545" indent="-387350">
              <a:lnSpc>
                <a:spcPct val="100000"/>
              </a:lnSpc>
              <a:spcBef>
                <a:spcPct val="20000"/>
              </a:spcBef>
              <a:spcAft>
                <a:spcPct val="0"/>
              </a:spcAft>
              <a:buClr>
                <a:schemeClr val="accent2"/>
              </a:buClr>
              <a:buFont typeface="Wingdings" panose="05000000000000000000" pitchFamily="2" charset="2"/>
              <a:buChar char="n"/>
              <a:defRPr sz="1800">
                <a:solidFill>
                  <a:schemeClr val="dk1"/>
                </a:solidFill>
              </a:defRPr>
            </a:lvl4pPr>
            <a:lvl5pPr marL="2093595" indent="-398145">
              <a:lnSpc>
                <a:spcPct val="100000"/>
              </a:lnSpc>
              <a:spcBef>
                <a:spcPct val="25000"/>
              </a:spcBef>
              <a:spcAft>
                <a:spcPct val="0"/>
              </a:spcAft>
              <a:buClr>
                <a:schemeClr val="accent2"/>
              </a:buClr>
              <a:buFont typeface="Wingdings" panose="05000000000000000000" pitchFamily="2" charset="2"/>
              <a:buChar char="§"/>
              <a:defRPr sz="1800">
                <a:solidFill>
                  <a:schemeClr val="dk1"/>
                </a:solidFill>
              </a:defRPr>
            </a:lvl5pPr>
          </a:lstStyle>
          <a:p>
            <a:pPr lvl="0" eaLnBrk="1" hangingPunct="1"/>
            <a:r>
              <a:rPr lang="en-US" altLang="en-US" sz="2400"/>
              <a:t>Design Specification</a:t>
            </a:r>
          </a:p>
          <a:p>
            <a:pPr lvl="0" eaLnBrk="1" hangingPunct="1"/>
            <a:r>
              <a:rPr lang="en-US" altLang="en-US" sz="2400"/>
              <a:t>Input screen</a:t>
            </a:r>
          </a:p>
          <a:p>
            <a:pPr lvl="0" eaLnBrk="1" hangingPunct="1"/>
            <a:r>
              <a:rPr lang="en-US" altLang="en-US" sz="2400"/>
              <a:t>Features of the System</a:t>
            </a:r>
          </a:p>
          <a:p>
            <a:pPr lvl="0" eaLnBrk="1" hangingPunct="1"/>
            <a:r>
              <a:rPr lang="en-US" altLang="en-US" sz="2400"/>
              <a:t>Limitation</a:t>
            </a:r>
          </a:p>
          <a:p>
            <a:pPr lvl="0" eaLnBrk="1" hangingPunct="1"/>
            <a:r>
              <a:rPr lang="en-US" altLang="en-US" sz="2400"/>
              <a:t>Future Enhancements</a:t>
            </a:r>
          </a:p>
          <a:p>
            <a:pPr lvl="0" eaLnBrk="1" hangingPunct="1"/>
            <a:r>
              <a:rPr lang="en-US" altLang="en-US" sz="2400"/>
              <a:t>Challenges </a:t>
            </a:r>
          </a:p>
          <a:p>
            <a:pPr lvl="0" eaLnBrk="1" hangingPunct="1"/>
            <a:endParaRPr lang="en-US" altLang="en-US" sz="2400"/>
          </a:p>
          <a:p>
            <a:pPr lvl="0" eaLnBrk="1" hangingPunct="1"/>
            <a:endParaRPr lang="en-US" altLang="en-US" sz="2400"/>
          </a:p>
          <a:p>
            <a:pPr lvl="0" eaLnBrk="1" hangingPunct="1"/>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Rectangle 2"/>
          <p:cNvSpPr>
            <a:spLocks noGrp="1"/>
          </p:cNvSpPr>
          <p:nvPr>
            <p:ph type="title"/>
          </p:nvPr>
        </p:nvSpPr>
        <p:spPr>
          <a:xfrm>
            <a:off x="-1936632" y="1223883"/>
            <a:ext cx="8001000" cy="10636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br>
              <a:rPr lang="en-US" altLang="en-US" sz="3600">
                <a:solidFill>
                  <a:schemeClr val="dk1"/>
                </a:solidFill>
                <a:latin typeface="Times New Roman" panose="02020603050405020304" pitchFamily="18" charset="0"/>
              </a:rPr>
            </a:br>
            <a:br>
              <a:rPr lang="en-US" altLang="en-US" sz="3600">
                <a:solidFill>
                  <a:schemeClr val="dk1"/>
                </a:solidFill>
                <a:latin typeface="Times New Roman" panose="02020603050405020304" pitchFamily="18" charset="0"/>
              </a:rPr>
            </a:br>
            <a:r>
              <a:rPr lang="en-US" altLang="en-US" sz="3600">
                <a:solidFill>
                  <a:schemeClr val="dk1"/>
                </a:solidFill>
                <a:latin typeface="Times New Roman" panose="02020603050405020304" pitchFamily="18" charset="0"/>
              </a:rPr>
              <a:t>			</a:t>
            </a:r>
            <a:r>
              <a:rPr lang="en-US" altLang="en-US" sz="4400">
                <a:solidFill>
                  <a:srgbClr val="000099"/>
                </a:solidFill>
                <a:latin typeface="Times New Roman" panose="02020603050405020304" pitchFamily="18" charset="0"/>
              </a:rPr>
              <a:t>System Overview</a:t>
            </a:r>
            <a:br>
              <a:rPr lang="en-US" altLang="en-US" sz="4400">
                <a:solidFill>
                  <a:srgbClr val="000099"/>
                </a:solidFill>
                <a:latin typeface="Times New Roman" panose="02020603050405020304" pitchFamily="18" charset="0"/>
              </a:rPr>
            </a:br>
            <a:endParaRPr lang="en-US" altLang="en-US" sz="4400">
              <a:solidFill>
                <a:srgbClr val="000099"/>
              </a:solidFill>
              <a:latin typeface="Times New Roman" panose="02020603050405020304" pitchFamily="18" charset="0"/>
            </a:endParaRPr>
          </a:p>
        </p:txBody>
      </p:sp>
      <p:sp>
        <p:nvSpPr>
          <p:cNvPr id="1048681" name="Text Box 1048680"/>
          <p:cNvSpPr txBox="1"/>
          <p:nvPr/>
        </p:nvSpPr>
        <p:spPr>
          <a:xfrm>
            <a:off x="704368" y="1755695"/>
            <a:ext cx="6770544" cy="4155440"/>
          </a:xfrm>
          <a:prstGeom prst="rect">
            <a:avLst/>
          </a:prstGeom>
        </p:spPr>
        <p:txBody>
          <a:bodyPr wrap="square" rtlCol="0">
            <a:spAutoFit/>
          </a:bodyPr>
          <a:lstStyle/>
          <a:p>
            <a:r>
              <a:rPr lang="en-GB" sz="1400">
                <a:solidFill>
                  <a:srgbClr val="000000"/>
                </a:solidFill>
              </a:rPr>
              <a:t>s. Here's a high-level system overview:
User Interface (UI):
The UI is the front-end of the system accessible to cafe staff for various functions like order taking, menu management, and customer service.
It provides an intuitive interface for employees to interact with the system efficiently.</a:t>
            </a:r>
          </a:p>
          <a:p>
            <a:r>
              <a:rPr lang="en-GB" sz="1400">
                <a:solidFill>
                  <a:srgbClr val="000000"/>
                </a:solidFill>
              </a:rPr>
              <a:t>
Order Management:
This module allows staff to take customer orders, including items, quantity, and special requests.
It handles dine-in, takeout, and delivery orders and ensures order accuracy.</a:t>
            </a:r>
          </a:p>
          <a:p>
            <a:r>
              <a:rPr lang="en-GB" sz="1400">
                <a:solidFill>
                  <a:srgbClr val="000000"/>
                </a:solidFill>
              </a:rPr>
              <a:t>
Menu Management:
Menu management enables cafe owners or managers to add, update, or remove menu tems.</a:t>
            </a:r>
            <a:r>
              <a:rPr lang="en-US" sz="1400">
                <a:solidFill>
                  <a:srgbClr val="000000"/>
                </a:solidFill>
              </a:rPr>
              <a:t>I</a:t>
            </a:r>
            <a:r>
              <a:rPr lang="en-GB" sz="1400">
                <a:solidFill>
                  <a:srgbClr val="000000"/>
                </a:solidFill>
              </a:rPr>
              <a:t>t may support categorizing items (e.g., appetizers, main courses, beverages) and defining prices.</a:t>
            </a:r>
          </a:p>
          <a:p>
            <a:r>
              <a:rPr lang="en-GB" sz="1400">
                <a:solidFill>
                  <a:srgbClr val="000000"/>
                </a:solidFill>
              </a:rPr>
              <a:t>
Inventory Control:
This module keeps track of available ingredients and supplies needed for menu items.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Rectangle 2"/>
          <p:cNvSpPr>
            <a:spLocks noGrp="1"/>
          </p:cNvSpPr>
          <p:nvPr>
            <p:ph type="title"/>
          </p:nvPr>
        </p:nvSpPr>
        <p:spPr>
          <a:xfrm>
            <a:off x="533400" y="152400"/>
            <a:ext cx="5257800" cy="12160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sz="4800">
                <a:solidFill>
                  <a:srgbClr val="000099"/>
                </a:solidFill>
                <a:latin typeface="Times New Roman" panose="02020603050405020304" pitchFamily="18" charset="0"/>
              </a:rPr>
              <a:t>Technologies Used</a:t>
            </a:r>
          </a:p>
        </p:txBody>
      </p:sp>
      <p:sp>
        <p:nvSpPr>
          <p:cNvPr id="3" name="Text Box 2"/>
          <p:cNvSpPr txBox="1"/>
          <p:nvPr/>
        </p:nvSpPr>
        <p:spPr>
          <a:xfrm>
            <a:off x="611505" y="1772285"/>
            <a:ext cx="7743825" cy="4015105"/>
          </a:xfrm>
          <a:prstGeom prst="rect">
            <a:avLst/>
          </a:prstGeom>
          <a:noFill/>
        </p:spPr>
        <p:txBody>
          <a:bodyPr wrap="square" rtlCol="0">
            <a:noAutofit/>
          </a:bodyPr>
          <a:lstStyle/>
          <a:p>
            <a:r>
              <a:rPr lang="en-US" sz="1000" dirty="0"/>
              <a:t>A Coffee Shop Management System typically involves a combination of hardware and software technologies to efficiently run the operations of a shop. Here are some of the key technologies commonly used in coffee shop management systems:</a:t>
            </a:r>
          </a:p>
          <a:p>
            <a:endParaRPr lang="en-US" sz="1000" dirty="0"/>
          </a:p>
          <a:p>
            <a:r>
              <a:rPr lang="en-US" sz="1000" dirty="0"/>
              <a:t>Point of Sale (POS) System:</a:t>
            </a:r>
          </a:p>
          <a:p>
            <a:endParaRPr lang="en-US" sz="1000" dirty="0"/>
          </a:p>
          <a:p>
            <a:r>
              <a:rPr lang="en-US" sz="1000" dirty="0"/>
              <a:t>Hardware: Touchscreen monitors, barcode scanners, receipt printers, cash drawers, and card readers.</a:t>
            </a:r>
          </a:p>
          <a:p>
            <a:r>
              <a:rPr lang="en-US" sz="1000" dirty="0"/>
              <a:t>Software: POS software for order taking, payment processing, and inventory management.</a:t>
            </a:r>
          </a:p>
          <a:p>
            <a:r>
              <a:rPr lang="en-US" sz="1000" dirty="0"/>
              <a:t>Inventory Management Software:</a:t>
            </a:r>
          </a:p>
          <a:p>
            <a:endParaRPr lang="en-US" sz="1000" dirty="0"/>
          </a:p>
          <a:p>
            <a:r>
              <a:rPr lang="en-US" sz="1000" dirty="0"/>
              <a:t>Software: Inventory tracking and management software to monitor stock levels, reorder supplies, and manage ingredient costs.</a:t>
            </a:r>
          </a:p>
          <a:p>
            <a:r>
              <a:rPr lang="en-US" sz="1000" dirty="0"/>
              <a:t>Customer Relationship Management (CRM) Software:</a:t>
            </a:r>
          </a:p>
          <a:p>
            <a:endParaRPr lang="en-US" sz="1000" dirty="0"/>
          </a:p>
          <a:p>
            <a:r>
              <a:rPr lang="en-US" sz="1000" dirty="0"/>
              <a:t>Software: CRM software for maintaining customer records, loyalty programs, and email marketing.</a:t>
            </a:r>
          </a:p>
          <a:p>
            <a:r>
              <a:rPr lang="en-US" sz="1000" dirty="0"/>
              <a:t>Reservation and Table Management:</a:t>
            </a:r>
          </a:p>
          <a:p>
            <a:endParaRPr lang="en-US" sz="1000" dirty="0"/>
          </a:p>
          <a:p>
            <a:r>
              <a:rPr lang="en-US" sz="1000" dirty="0"/>
              <a:t>Software: Reservation and table management systems to optimize seating arrangements and track reservations.</a:t>
            </a:r>
          </a:p>
          <a:p>
            <a:r>
              <a:rPr lang="en-US" sz="1000" dirty="0"/>
              <a:t>Kitchen Display Systems (KDS):</a:t>
            </a:r>
          </a:p>
          <a:p>
            <a:endParaRPr lang="en-US" sz="1000" dirty="0"/>
          </a:p>
          <a:p>
            <a:r>
              <a:rPr lang="en-US" sz="1000" dirty="0"/>
              <a:t>Hardware: Screens or monitors in the kitchen.</a:t>
            </a:r>
          </a:p>
          <a:p>
            <a:r>
              <a:rPr lang="en-US" sz="1000" dirty="0"/>
              <a:t>Software: KDS software to display orders to kitchen staff, ensuring efficient order preparation.</a:t>
            </a:r>
          </a:p>
          <a:p>
            <a:r>
              <a:rPr lang="en-US" sz="1000" dirty="0"/>
              <a:t>Online Ordering and Delivery Platforms:</a:t>
            </a:r>
          </a:p>
          <a:p>
            <a:endParaRPr lang="en-US" sz="1000" dirty="0"/>
          </a:p>
          <a:p>
            <a:r>
              <a:rPr lang="en-US" sz="1000" dirty="0"/>
              <a:t>Software: Online ordering and delivery platforms or mobile apps to facilitate online orders and deliveries.</a:t>
            </a:r>
          </a:p>
          <a:p>
            <a:r>
              <a:rPr lang="en-US" sz="1000" dirty="0"/>
              <a:t>Employee Scheduling and Time Clock Software:</a:t>
            </a:r>
          </a:p>
          <a:p>
            <a:endParaRPr lang="en-US" sz="1000" dirty="0"/>
          </a:p>
          <a:p>
            <a:r>
              <a:rPr lang="en-US" sz="1000" dirty="0"/>
              <a:t>Software: Employee scheduling and time tracking software to manage staff shifts and attendance.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Rectangle 2"/>
          <p:cNvSpPr>
            <a:spLocks noGrp="1"/>
          </p:cNvSpPr>
          <p:nvPr>
            <p:ph type="title"/>
          </p:nvPr>
        </p:nvSpPr>
        <p:spPr>
          <a:xfrm>
            <a:off x="-838200" y="685800"/>
            <a:ext cx="7010400" cy="7588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sz="3400"/>
              <a:t>	  </a:t>
            </a:r>
            <a:r>
              <a:rPr lang="en-US" altLang="en-US" sz="4000">
                <a:solidFill>
                  <a:srgbClr val="000099"/>
                </a:solidFill>
              </a:rPr>
              <a:t>Problem Definition</a:t>
            </a:r>
          </a:p>
        </p:txBody>
      </p:sp>
      <p:sp>
        <p:nvSpPr>
          <p:cNvPr id="1048682" name="Text Box 1048681"/>
          <p:cNvSpPr txBox="1"/>
          <p:nvPr/>
        </p:nvSpPr>
        <p:spPr>
          <a:xfrm>
            <a:off x="542210" y="1444625"/>
            <a:ext cx="7071592" cy="5693866"/>
          </a:xfrm>
          <a:prstGeom prst="rect">
            <a:avLst/>
          </a:prstGeom>
        </p:spPr>
        <p:txBody>
          <a:bodyPr wrap="square" rtlCol="0">
            <a:spAutoFit/>
          </a:bodyPr>
          <a:lstStyle/>
          <a:p>
            <a:r>
              <a:rPr lang="en-GB" sz="1400" dirty="0">
                <a:solidFill>
                  <a:srgbClr val="000000"/>
                </a:solidFill>
              </a:rPr>
              <a:t>
Problem Statement:
Coffee businesses face numerous operational challenges, including order management, menu updates, inventory control, customer management, billing, and more. Manual processes are often error-prone, time-consuming, and inefficient. The coffee shop management system project aims to address these challenges by creating a comprehensive software solution that streamlines cafe operations, enhances customer service, and improves overall efficiency.
Key Problem Areas:
Order Management:
Manually taking and processing customer orders can lead to errors, </a:t>
            </a:r>
          </a:p>
          <a:p>
            <a:r>
              <a:rPr lang="en-GB" sz="1400" dirty="0">
                <a:solidFill>
                  <a:srgbClr val="000000"/>
                </a:solidFill>
              </a:rPr>
              <a:t>delays, and miscommunication between the front-of-house and kitchen staff.</a:t>
            </a:r>
          </a:p>
          <a:p>
            <a:r>
              <a:rPr lang="en-GB" sz="1400" dirty="0">
                <a:solidFill>
                  <a:srgbClr val="000000"/>
                </a:solidFill>
              </a:rPr>
              <a:t>
Menu Management:
Updating and managing the cafe's menu, including adding new items, changing prices, and ensuring item availability, can be a cumbersome task.</a:t>
            </a:r>
          </a:p>
          <a:p>
            <a:r>
              <a:rPr lang="en-GB" sz="1400" dirty="0">
                <a:solidFill>
                  <a:srgbClr val="000000"/>
                </a:solidFill>
              </a:rPr>
              <a:t>
Inventory Control:
Tracking inventory levels of ingredients and supplies is challenging, leading to stockouts, overstocking, and food wastage.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Rectangle 2"/>
          <p:cNvSpPr>
            <a:spLocks noGrp="1"/>
          </p:cNvSpPr>
          <p:nvPr>
            <p:ph type="title"/>
          </p:nvPr>
        </p:nvSpPr>
        <p:spPr>
          <a:xfrm>
            <a:off x="574675" y="609600"/>
            <a:ext cx="8001000" cy="7588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sz="3400">
                <a:solidFill>
                  <a:srgbClr val="000099"/>
                </a:solidFill>
              </a:rPr>
              <a:t>Problem Definition (Continued..)</a:t>
            </a:r>
          </a:p>
        </p:txBody>
      </p:sp>
      <p:sp>
        <p:nvSpPr>
          <p:cNvPr id="1048683" name="Text Box 1048682"/>
          <p:cNvSpPr txBox="1"/>
          <p:nvPr/>
        </p:nvSpPr>
        <p:spPr>
          <a:xfrm>
            <a:off x="574675" y="1864877"/>
            <a:ext cx="7654141" cy="3025140"/>
          </a:xfrm>
          <a:prstGeom prst="rect">
            <a:avLst/>
          </a:prstGeom>
        </p:spPr>
        <p:txBody>
          <a:bodyPr wrap="square" rtlCol="0">
            <a:spAutoFit/>
          </a:bodyPr>
          <a:lstStyle/>
          <a:p>
            <a:r>
              <a:rPr lang="en-GB" sz="1800">
                <a:solidFill>
                  <a:srgbClr val="000000"/>
                </a:solidFill>
              </a:rPr>
              <a:t>Customer Management:
Maintaining customer records, preferences, and loyalty programs manually can be time-consuming and prone to errors.</a:t>
            </a:r>
          </a:p>
          <a:p>
            <a:r>
              <a:rPr lang="en-GB" sz="1800">
                <a:solidFill>
                  <a:srgbClr val="000000"/>
                </a:solidFill>
              </a:rPr>
              <a:t>
Billing and Payment:
Manual billing processes are slow, and handling various payment methods can be error-prone.</a:t>
            </a:r>
          </a:p>
          <a:p>
            <a:r>
              <a:rPr lang="en-GB" sz="1800">
                <a:solidFill>
                  <a:srgbClr val="000000"/>
                </a:solidFill>
              </a:rPr>
              <a:t>
Staff Management:
Managing employee schedules, roles, and payroll can be complex and time-consuming without proper software support.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Rectangle 2"/>
          <p:cNvSpPr>
            <a:spLocks noGrp="1"/>
          </p:cNvSpPr>
          <p:nvPr>
            <p:ph type="title"/>
          </p:nvPr>
        </p:nvSpPr>
        <p:spPr>
          <a:xfrm>
            <a:off x="533400" y="295275"/>
            <a:ext cx="8001000" cy="9874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sz="3400">
                <a:solidFill>
                  <a:srgbClr val="000099"/>
                </a:solidFill>
              </a:rPr>
              <a:t>Limitation Of The Manual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Title 1"/>
          <p:cNvSpPr>
            <a:spLocks noGrp="1"/>
          </p:cNvSpPr>
          <p:nvPr>
            <p:ph type="title"/>
          </p:nvPr>
        </p:nvSpPr>
        <p:spPr>
          <a:xfrm>
            <a:off x="574675" y="304800"/>
            <a:ext cx="8001000" cy="12160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a:t>Proposed System</a:t>
            </a:r>
          </a:p>
        </p:txBody>
      </p:sp>
      <p:sp>
        <p:nvSpPr>
          <p:cNvPr id="1048589" name="Content Placeholder 2"/>
          <p:cNvSpPr>
            <a:spLocks noGrp="1"/>
          </p:cNvSpPr>
          <p:nvPr>
            <p:ph idx="1"/>
          </p:nvPr>
        </p:nvSpPr>
        <p:spPr>
          <a:xfrm>
            <a:off x="566737" y="2261558"/>
            <a:ext cx="8001000" cy="3758242"/>
          </a:xfrm>
          <a:prstGeom prst="rect">
            <a:avLst/>
          </a:prstGeom>
          <a:noFill/>
          <a:ln>
            <a:noFill/>
          </a:ln>
        </p:spPr>
        <p:txBody>
          <a:bodyPr vert="horz" lIns="91440" tIns="45720" rIns="91440" bIns="45720" anchor="t"/>
          <a:lstStyle>
            <a:lvl1pPr marL="469900" indent="-46990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o"/>
              <a:defRPr sz="3000" b="0" i="0" u="none" baseline="0">
                <a:solidFill>
                  <a:schemeClr val="dk1"/>
                </a:solidFill>
                <a:latin typeface="Verdana" panose="020B0604030504040204" pitchFamily="34" charset="0"/>
                <a:sym typeface="Verdana" panose="020B0604030504040204" pitchFamily="34" charset="0"/>
              </a:defRPr>
            </a:lvl1pPr>
            <a:lvl2pPr marL="908050" indent="-43688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n"/>
              <a:defRPr sz="2600" b="0" i="0" u="none" baseline="0">
                <a:solidFill>
                  <a:schemeClr val="dk1"/>
                </a:solidFill>
                <a:latin typeface="Verdana" panose="020B0604030504040204" pitchFamily="34" charset="0"/>
                <a:sym typeface="Verdana" panose="020B0604030504040204" pitchFamily="34" charset="0"/>
              </a:defRPr>
            </a:lvl2pPr>
            <a:lvl3pPr marL="1304925" indent="-395605"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o"/>
              <a:defRPr sz="2300" b="0" i="0" u="none" baseline="0">
                <a:solidFill>
                  <a:schemeClr val="dk1"/>
                </a:solidFill>
                <a:latin typeface="Verdana" panose="020B0604030504040204" pitchFamily="34" charset="0"/>
                <a:sym typeface="Verdana" panose="020B0604030504040204" pitchFamily="34" charset="0"/>
              </a:defRPr>
            </a:lvl3pPr>
            <a:lvl4pPr marL="1693545" indent="-38735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n"/>
              <a:defRPr sz="2000" b="0" i="0" u="none" baseline="0">
                <a:solidFill>
                  <a:schemeClr val="dk1"/>
                </a:solidFill>
                <a:latin typeface="Verdana" panose="020B0604030504040204" pitchFamily="34" charset="0"/>
                <a:sym typeface="Verdana" panose="020B0604030504040204" pitchFamily="34" charset="0"/>
              </a:defRPr>
            </a:lvl4pPr>
            <a:lvl5pPr marL="2093595" indent="-398145" algn="l" rtl="0" eaLnBrk="0" fontAlgn="base" latinLnBrk="0" hangingPunct="0">
              <a:lnSpc>
                <a:spcPct val="100000"/>
              </a:lnSpc>
              <a:spcBef>
                <a:spcPct val="25000"/>
              </a:spcBef>
              <a:spcAft>
                <a:spcPct val="0"/>
              </a:spcAft>
              <a:buClr>
                <a:schemeClr val="accent2"/>
              </a:buClr>
              <a:buSzPct val="100000"/>
              <a:buFont typeface="Wingdings" panose="05000000000000000000" pitchFamily="2" charset="2"/>
              <a:buChar char="§"/>
              <a:defRPr sz="2000" b="0" i="0" u="none" baseline="0">
                <a:solidFill>
                  <a:schemeClr val="dk1"/>
                </a:solidFill>
                <a:latin typeface="Verdana" panose="020B0604030504040204" pitchFamily="34" charset="0"/>
                <a:sym typeface="Verdana" panose="020B0604030504040204" pitchFamily="34" charset="0"/>
              </a:defRPr>
            </a:lvl5pPr>
          </a:lstStyle>
          <a:p>
            <a:pPr lvl="0" eaLnBrk="1" hangingPunct="1"/>
            <a:r>
              <a:rPr lang="en-US" altLang="en-US"/>
              <a:t>Objective</a:t>
            </a:r>
            <a:r>
              <a:rPr lang="en-US" altLang="en-US" sz="1600"/>
              <a:t>:</a:t>
            </a:r>
            <a:endParaRPr lang="zh-CN" altLang="en-US" sz="1600"/>
          </a:p>
          <a:p>
            <a:pPr lvl="0" eaLnBrk="1" hangingPunct="1"/>
            <a:r>
              <a:rPr lang="en-US" altLang="en-US" sz="1600"/>
              <a:t>Order Management: Streamlining the process of taking and managing customer orders, including options for dine-in, takeout, and delivery.</a:t>
            </a:r>
            <a:endParaRPr lang="zh-CN" altLang="en-US" sz="1600"/>
          </a:p>
          <a:p>
            <a:pPr lvl="0" eaLnBrk="1" hangingPunct="1"/>
            <a:r>
              <a:rPr lang="en-US" altLang="en-US" sz="1600"/>
              <a:t>Menu Management: Efficiently updating and maintaining the cafe's menu, including adding new items, modifying prices, and managing availability.</a:t>
            </a:r>
            <a:endParaRPr lang="zh-CN" altLang="en-US" sz="1600"/>
          </a:p>
          <a:p>
            <a:pPr lvl="0" eaLnBrk="1" hangingPunct="1"/>
            <a:r>
              <a:rPr lang="en-US" altLang="en-US" sz="1600"/>
              <a:t>Inventory Control: Keeping track of inventory levels for ingredients, supplies, and menu items to avoid stockouts and waste.</a:t>
            </a:r>
            <a:endParaRPr lang="zh-CN" altLang="en-US" sz="1600"/>
          </a:p>
          <a:p>
            <a:pPr lvl="0" eaLnBrk="1" hangingPunct="1"/>
            <a:r>
              <a:rPr lang="en-US" altLang="en-US" sz="1600"/>
              <a:t>Customer Management: Maintaining customer records, preferences, and loyalty programs to enhance customer engagement.</a:t>
            </a:r>
            <a:endParaRPr lang="zh-CN" altLang="en-US" sz="1600"/>
          </a:p>
          <a:p>
            <a:pPr lvl="0" eaLnBrk="1" hangingPunct="1"/>
            <a:r>
              <a:rPr lang="en-US" altLang="en-US" sz="1600"/>
              <a:t>Billing and Payment: Automating the billing process, including generating invoices and processing payments through various methods, such as cash, credit cards, and digital wallets.</a:t>
            </a:r>
            <a:endParaRPr lang="zh-CN" alt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Title 1"/>
          <p:cNvSpPr>
            <a:spLocks noGrp="1"/>
          </p:cNvSpPr>
          <p:nvPr>
            <p:ph type="title"/>
          </p:nvPr>
        </p:nvSpPr>
        <p:spPr>
          <a:xfrm>
            <a:off x="574675" y="304800"/>
            <a:ext cx="8001000" cy="12160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sz="3600"/>
              <a:t>List of Processes within the System</a:t>
            </a:r>
          </a:p>
        </p:txBody>
      </p:sp>
      <p:sp>
        <p:nvSpPr>
          <p:cNvPr id="5" name="Text Box 4"/>
          <p:cNvSpPr txBox="1"/>
          <p:nvPr/>
        </p:nvSpPr>
        <p:spPr>
          <a:xfrm>
            <a:off x="694690" y="1731010"/>
            <a:ext cx="7165340" cy="2827655"/>
          </a:xfrm>
          <a:prstGeom prst="rect">
            <a:avLst/>
          </a:prstGeom>
          <a:noFill/>
        </p:spPr>
        <p:txBody>
          <a:bodyPr wrap="square" rtlCol="0">
            <a:noAutofit/>
          </a:bodyPr>
          <a:lstStyle/>
          <a:p>
            <a:r>
              <a:rPr lang="en-US" sz="1000"/>
              <a:t>Order Taking and Entry:</a:t>
            </a:r>
          </a:p>
          <a:p>
            <a:endParaRPr lang="en-US" sz="1000"/>
          </a:p>
          <a:p>
            <a:r>
              <a:rPr lang="en-US" sz="1000"/>
              <a:t>Customers place their orders with servers or through self-service kiosks or mobile apps.</a:t>
            </a:r>
          </a:p>
          <a:p>
            <a:r>
              <a:rPr lang="en-US" sz="1000"/>
              <a:t>Orders are entered into the Point of Sale (POS) system.</a:t>
            </a:r>
          </a:p>
          <a:p>
            <a:r>
              <a:rPr lang="en-US" sz="1000"/>
              <a:t>Payment Processing:</a:t>
            </a:r>
          </a:p>
          <a:p>
            <a:endParaRPr lang="en-US" sz="1000"/>
          </a:p>
          <a:p>
            <a:r>
              <a:rPr lang="en-US" sz="1000"/>
              <a:t>Payment for orders is processed through the POS system.</a:t>
            </a:r>
          </a:p>
          <a:p>
            <a:r>
              <a:rPr lang="en-US" sz="1000"/>
              <a:t>Various payment methods, including cash, credit/debit cards, mobile payments, and gift cards, are accepted.</a:t>
            </a:r>
          </a:p>
          <a:p>
            <a:r>
              <a:rPr lang="en-US" sz="1000"/>
              <a:t>Kitchen Order Preparation:</a:t>
            </a:r>
          </a:p>
          <a:p>
            <a:endParaRPr lang="en-US" sz="1000"/>
          </a:p>
          <a:p>
            <a:r>
              <a:rPr lang="en-US" sz="1000"/>
              <a:t>Orders are sent to the kitchen display system (KDS).</a:t>
            </a:r>
          </a:p>
          <a:p>
            <a:r>
              <a:rPr lang="en-US" sz="1000"/>
              <a:t>Kitchen staff prepare and assemble the orders according to the ticket information.</a:t>
            </a:r>
          </a:p>
          <a:p>
            <a:r>
              <a:rPr lang="en-US" sz="1000"/>
              <a:t>Inventory Management:</a:t>
            </a:r>
          </a:p>
          <a:p>
            <a:endParaRPr lang="en-US" sz="1000"/>
          </a:p>
          <a:p>
            <a:r>
              <a:rPr lang="en-US" sz="1000"/>
              <a:t>Monitoring and managing inventory levels of ingredients, beverages, and other supplies.</a:t>
            </a:r>
          </a:p>
          <a:p>
            <a:r>
              <a:rPr lang="en-US" sz="1000"/>
              <a:t>Automated alerts for low stock levels and reordering of supplies.</a:t>
            </a:r>
          </a:p>
          <a:p>
            <a:r>
              <a:rPr lang="en-US" sz="1000"/>
              <a:t>Table Management and Seating:</a:t>
            </a:r>
          </a:p>
          <a:p>
            <a:endParaRPr lang="en-US" sz="1000"/>
          </a:p>
          <a:p>
            <a:r>
              <a:rPr lang="en-US" sz="1000"/>
              <a:t>Managing reservations and walk-in customers.</a:t>
            </a:r>
          </a:p>
          <a:p>
            <a:r>
              <a:rPr lang="en-US" sz="1000"/>
              <a:t>Assigning tables to customers and ensuring efficient seating.</a:t>
            </a:r>
          </a:p>
          <a:p>
            <a:r>
              <a:rPr lang="en-US" sz="1000"/>
              <a:t>Customer Service:</a:t>
            </a:r>
          </a:p>
          <a:p>
            <a:endParaRPr lang="en-US" sz="1000"/>
          </a:p>
          <a:p>
            <a:r>
              <a:rPr lang="en-US" sz="1000"/>
              <a:t>Providing attentive service, addressing customer inquiries, and handling special requests.</a:t>
            </a:r>
          </a:p>
          <a:p>
            <a:r>
              <a:rPr lang="en-US" sz="1000"/>
              <a:t>Offering recommendations and upselling menu items.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Rectangle 4"/>
          <p:cNvSpPr>
            <a:spLocks noGrp="1"/>
          </p:cNvSpPr>
          <p:nvPr>
            <p:ph type="body" idx="1"/>
          </p:nvPr>
        </p:nvSpPr>
        <p:spPr>
          <a:xfrm>
            <a:off x="2057400" y="3048000"/>
            <a:ext cx="6172200" cy="1447800"/>
          </a:xfrm>
          <a:prstGeom prst="rect">
            <a:avLst/>
          </a:prstGeom>
          <a:noFill/>
          <a:ln>
            <a:noFill/>
          </a:ln>
        </p:spPr>
        <p:txBody>
          <a:bodyPr vert="horz" lIns="92075" tIns="46038" rIns="92075" bIns="46038" anchor="t"/>
          <a:lstStyle>
            <a:lvl1pPr marL="469900" indent="-46990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o"/>
              <a:defRPr sz="3000" b="0" i="0" u="none" baseline="0">
                <a:solidFill>
                  <a:schemeClr val="dk1"/>
                </a:solidFill>
                <a:latin typeface="Verdana" panose="020B0604030504040204" pitchFamily="34" charset="0"/>
                <a:sym typeface="Verdana" panose="020B0604030504040204" pitchFamily="34" charset="0"/>
              </a:defRPr>
            </a:lvl1pPr>
            <a:lvl2pPr marL="908050" indent="-43688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n"/>
              <a:defRPr sz="2600" b="0" i="0" u="none" baseline="0">
                <a:solidFill>
                  <a:schemeClr val="dk1"/>
                </a:solidFill>
                <a:latin typeface="Verdana" panose="020B0604030504040204" pitchFamily="34" charset="0"/>
                <a:sym typeface="Verdana" panose="020B0604030504040204" pitchFamily="34" charset="0"/>
              </a:defRPr>
            </a:lvl2pPr>
            <a:lvl3pPr marL="1304925" indent="-395605"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o"/>
              <a:defRPr sz="2300" b="0" i="0" u="none" baseline="0">
                <a:solidFill>
                  <a:schemeClr val="dk1"/>
                </a:solidFill>
                <a:latin typeface="Verdana" panose="020B0604030504040204" pitchFamily="34" charset="0"/>
                <a:sym typeface="Verdana" panose="020B0604030504040204" pitchFamily="34" charset="0"/>
              </a:defRPr>
            </a:lvl3pPr>
            <a:lvl4pPr marL="1693545" indent="-38735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n"/>
              <a:defRPr sz="2000" b="0" i="0" u="none" baseline="0">
                <a:solidFill>
                  <a:schemeClr val="dk1"/>
                </a:solidFill>
                <a:latin typeface="Verdana" panose="020B0604030504040204" pitchFamily="34" charset="0"/>
                <a:sym typeface="Verdana" panose="020B0604030504040204" pitchFamily="34" charset="0"/>
              </a:defRPr>
            </a:lvl4pPr>
            <a:lvl5pPr marL="2093595" indent="-398145" algn="l" rtl="0" eaLnBrk="0" fontAlgn="base" latinLnBrk="0" hangingPunct="0">
              <a:lnSpc>
                <a:spcPct val="100000"/>
              </a:lnSpc>
              <a:spcBef>
                <a:spcPct val="25000"/>
              </a:spcBef>
              <a:spcAft>
                <a:spcPct val="0"/>
              </a:spcAft>
              <a:buClr>
                <a:schemeClr val="accent2"/>
              </a:buClr>
              <a:buSzPct val="100000"/>
              <a:buFont typeface="Wingdings" panose="05000000000000000000" pitchFamily="2" charset="2"/>
              <a:buChar char="§"/>
              <a:defRPr sz="2000" b="0" i="0" u="none" baseline="0">
                <a:solidFill>
                  <a:schemeClr val="dk1"/>
                </a:solidFill>
                <a:latin typeface="Verdana" panose="020B0604030504040204" pitchFamily="34" charset="0"/>
                <a:sym typeface="Verdana" panose="020B0604030504040204" pitchFamily="34" charset="0"/>
              </a:defRPr>
            </a:lvl5pPr>
          </a:lstStyle>
          <a:p>
            <a:pPr lvl="0" eaLnBrk="1" hangingPunct="1">
              <a:buNone/>
            </a:pPr>
            <a:r>
              <a:rPr lang="en-US" altLang="en-US" sz="3600" b="1">
                <a:solidFill>
                  <a:srgbClr val="000099"/>
                </a:solidFill>
              </a:rPr>
              <a:t>Design Specification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Rectangle 2"/>
          <p:cNvSpPr>
            <a:spLocks noGrp="1"/>
          </p:cNvSpPr>
          <p:nvPr>
            <p:ph type="title"/>
          </p:nvPr>
        </p:nvSpPr>
        <p:spPr>
          <a:xfrm>
            <a:off x="574675" y="609600"/>
            <a:ext cx="8001000" cy="7588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sz="4400">
                <a:solidFill>
                  <a:srgbClr val="990099"/>
                </a:solidFill>
              </a:rPr>
              <a:t>E R Diagram</a:t>
            </a:r>
          </a:p>
        </p:txBody>
      </p:sp>
      <p:pic>
        <p:nvPicPr>
          <p:cNvPr id="3" name="Picture 2">
            <a:extLst>
              <a:ext uri="{FF2B5EF4-FFF2-40B4-BE49-F238E27FC236}">
                <a16:creationId xmlns:a16="http://schemas.microsoft.com/office/drawing/2014/main" id="{283C4434-57F6-36DF-57E8-5432334BDC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844824"/>
            <a:ext cx="6552728" cy="41044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Rectangle 41"/>
          <p:cNvSpPr>
            <a:spLocks noGrp="1"/>
          </p:cNvSpPr>
          <p:nvPr>
            <p:ph type="body" idx="1"/>
          </p:nvPr>
        </p:nvSpPr>
        <p:spPr>
          <a:xfrm>
            <a:off x="609600" y="533400"/>
            <a:ext cx="5334000" cy="762000"/>
          </a:xfrm>
          <a:prstGeom prst="rect">
            <a:avLst/>
          </a:prstGeom>
          <a:noFill/>
          <a:ln>
            <a:noFill/>
          </a:ln>
        </p:spPr>
        <p:txBody>
          <a:bodyPr vert="horz" lIns="92075" tIns="46038" rIns="92075" bIns="46038" anchor="t"/>
          <a:lstStyle>
            <a:lvl1pPr marL="469900" indent="-46990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o"/>
              <a:defRPr sz="3000" b="0" i="0" u="none" baseline="0">
                <a:solidFill>
                  <a:schemeClr val="dk1"/>
                </a:solidFill>
                <a:latin typeface="Verdana" panose="020B0604030504040204" pitchFamily="34" charset="0"/>
                <a:sym typeface="Verdana" panose="020B0604030504040204" pitchFamily="34" charset="0"/>
              </a:defRPr>
            </a:lvl1pPr>
            <a:lvl2pPr marL="908050" indent="-43688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n"/>
              <a:defRPr sz="2600" b="0" i="0" u="none" baseline="0">
                <a:solidFill>
                  <a:schemeClr val="dk1"/>
                </a:solidFill>
                <a:latin typeface="Verdana" panose="020B0604030504040204" pitchFamily="34" charset="0"/>
                <a:sym typeface="Verdana" panose="020B0604030504040204" pitchFamily="34" charset="0"/>
              </a:defRPr>
            </a:lvl2pPr>
            <a:lvl3pPr marL="1304925" indent="-395605"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o"/>
              <a:defRPr sz="2300" b="0" i="0" u="none" baseline="0">
                <a:solidFill>
                  <a:schemeClr val="dk1"/>
                </a:solidFill>
                <a:latin typeface="Verdana" panose="020B0604030504040204" pitchFamily="34" charset="0"/>
                <a:sym typeface="Verdana" panose="020B0604030504040204" pitchFamily="34" charset="0"/>
              </a:defRPr>
            </a:lvl3pPr>
            <a:lvl4pPr marL="1693545" indent="-387350" algn="l" rtl="0" eaLnBrk="0" fontAlgn="base" latinLnBrk="0" hangingPunct="0">
              <a:lnSpc>
                <a:spcPct val="100000"/>
              </a:lnSpc>
              <a:spcBef>
                <a:spcPct val="20000"/>
              </a:spcBef>
              <a:spcAft>
                <a:spcPct val="0"/>
              </a:spcAft>
              <a:buClr>
                <a:schemeClr val="accent2"/>
              </a:buClr>
              <a:buSzPct val="100000"/>
              <a:buFont typeface="Wingdings" panose="05000000000000000000" pitchFamily="2" charset="2"/>
              <a:buChar char="n"/>
              <a:defRPr sz="2000" b="0" i="0" u="none" baseline="0">
                <a:solidFill>
                  <a:schemeClr val="dk1"/>
                </a:solidFill>
                <a:latin typeface="Verdana" panose="020B0604030504040204" pitchFamily="34" charset="0"/>
                <a:sym typeface="Verdana" panose="020B0604030504040204" pitchFamily="34" charset="0"/>
              </a:defRPr>
            </a:lvl4pPr>
            <a:lvl5pPr marL="2093595" indent="-398145" algn="l" rtl="0" eaLnBrk="0" fontAlgn="base" latinLnBrk="0" hangingPunct="0">
              <a:lnSpc>
                <a:spcPct val="100000"/>
              </a:lnSpc>
              <a:spcBef>
                <a:spcPct val="25000"/>
              </a:spcBef>
              <a:spcAft>
                <a:spcPct val="0"/>
              </a:spcAft>
              <a:buClr>
                <a:schemeClr val="accent2"/>
              </a:buClr>
              <a:buSzPct val="100000"/>
              <a:buFont typeface="Wingdings" panose="05000000000000000000" pitchFamily="2" charset="2"/>
              <a:buChar char="§"/>
              <a:defRPr sz="2000" b="0" i="0" u="none" baseline="0">
                <a:solidFill>
                  <a:schemeClr val="dk1"/>
                </a:solidFill>
                <a:latin typeface="Verdana" panose="020B0604030504040204" pitchFamily="34" charset="0"/>
                <a:sym typeface="Verdana" panose="020B0604030504040204" pitchFamily="34" charset="0"/>
              </a:defRPr>
            </a:lvl5pPr>
          </a:lstStyle>
          <a:p>
            <a:pPr lvl="0" eaLnBrk="1" hangingPunct="1">
              <a:buNone/>
            </a:pPr>
            <a:r>
              <a:rPr lang="en-US" altLang="en-US" b="1">
                <a:solidFill>
                  <a:srgbClr val="990099"/>
                </a:solidFill>
              </a:rPr>
              <a:t>Context level DFD’s</a:t>
            </a:r>
          </a:p>
        </p:txBody>
      </p:sp>
      <p:pic>
        <p:nvPicPr>
          <p:cNvPr id="3" name="Picture 2">
            <a:extLst>
              <a:ext uri="{FF2B5EF4-FFF2-40B4-BE49-F238E27FC236}">
                <a16:creationId xmlns:a16="http://schemas.microsoft.com/office/drawing/2014/main" id="{E8F80F46-36B0-4019-BB85-63A02ADDEB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844824"/>
            <a:ext cx="7778824" cy="39895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Rectangle 4"/>
          <p:cNvSpPr>
            <a:spLocks noGrp="1"/>
          </p:cNvSpPr>
          <p:nvPr>
            <p:ph type="title"/>
          </p:nvPr>
        </p:nvSpPr>
        <p:spPr>
          <a:xfrm>
            <a:off x="546100" y="609600"/>
            <a:ext cx="8001000" cy="7588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a:solidFill>
                  <a:srgbClr val="990099"/>
                </a:solidFill>
              </a:rPr>
              <a:t>First Level DFD</a:t>
            </a:r>
          </a:p>
        </p:txBody>
      </p:sp>
      <p:pic>
        <p:nvPicPr>
          <p:cNvPr id="3" name="Picture 2">
            <a:extLst>
              <a:ext uri="{FF2B5EF4-FFF2-40B4-BE49-F238E27FC236}">
                <a16:creationId xmlns:a16="http://schemas.microsoft.com/office/drawing/2014/main" id="{0D4E25A8-5C1D-E694-F298-2B43C92D7A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1772817"/>
            <a:ext cx="4896544" cy="43924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Rectangle 2"/>
          <p:cNvSpPr>
            <a:spLocks noGrp="1"/>
          </p:cNvSpPr>
          <p:nvPr>
            <p:ph type="title"/>
          </p:nvPr>
        </p:nvSpPr>
        <p:spPr>
          <a:xfrm>
            <a:off x="609600" y="460375"/>
            <a:ext cx="8001000" cy="8350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a:solidFill>
                  <a:srgbClr val="000099"/>
                </a:solidFill>
              </a:rPr>
              <a:t>Features of System</a:t>
            </a:r>
            <a:r>
              <a:rPr lang="en-US" altLang="en-US"/>
              <a:t> </a:t>
            </a:r>
          </a:p>
        </p:txBody>
      </p:sp>
      <p:sp>
        <p:nvSpPr>
          <p:cNvPr id="1048684" name="Text Box 1048683"/>
          <p:cNvSpPr txBox="1"/>
          <p:nvPr/>
        </p:nvSpPr>
        <p:spPr>
          <a:xfrm>
            <a:off x="1014543" y="1768698"/>
            <a:ext cx="6660606" cy="4155441"/>
          </a:xfrm>
          <a:prstGeom prst="rect">
            <a:avLst/>
          </a:prstGeom>
        </p:spPr>
        <p:txBody>
          <a:bodyPr wrap="square" rtlCol="0">
            <a:spAutoFit/>
          </a:bodyPr>
          <a:lstStyle/>
          <a:p>
            <a:r>
              <a:rPr lang="en-GB" sz="1400">
                <a:solidFill>
                  <a:srgbClr val="000000"/>
                </a:solidFill>
              </a:rPr>
              <a:t>. Here are key features that such a system may have:
Order Management:
Create, modify, and track customer orders for dine-in, takeout, and delivery.
Add items to orders, specify quantity, and accommodate special requests.
Real-time order status updates for both staff and customers.</a:t>
            </a:r>
          </a:p>
          <a:p>
            <a:r>
              <a:rPr lang="en-GB" sz="1400">
                <a:solidFill>
                  <a:srgbClr val="000000"/>
                </a:solidFill>
              </a:rPr>
              <a:t>
Menu Management:
Easily update and manage the cafe's menu, including item names, descriptions, prices, and availability.
Categorize items (e.g., appetizers, main courses, beverages) for easy navigation.</a:t>
            </a:r>
          </a:p>
          <a:p>
            <a:r>
              <a:rPr lang="en-GB" sz="1400">
                <a:solidFill>
                  <a:srgbClr val="000000"/>
                </a:solidFill>
              </a:rPr>
              <a:t>
Inventory Control:
Monitor ingredient and supply levels in real-time.
Automated alerts for low inventory levels and reorder management.
Track ingredient usage and reduce food wastage.</a:t>
            </a:r>
          </a:p>
          <a:p>
            <a:r>
              <a:rPr lang="en-GB" sz="1400">
                <a:solidFill>
                  <a:srgbClr val="000000"/>
                </a:solidFill>
              </a:rPr>
              <a:t>
Customer Management:
Create and manage customer profiles with contact information and order history.
Implement loyalty programs and discounts based on customer behavior.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Rectangle 2"/>
          <p:cNvSpPr>
            <a:spLocks noGrp="1"/>
          </p:cNvSpPr>
          <p:nvPr>
            <p:ph type="title"/>
          </p:nvPr>
        </p:nvSpPr>
        <p:spPr>
          <a:xfrm>
            <a:off x="533400" y="152400"/>
            <a:ext cx="6816725" cy="12160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a:solidFill>
                  <a:srgbClr val="000099"/>
                </a:solidFill>
              </a:rPr>
              <a:t>Limitation Of the System</a:t>
            </a:r>
          </a:p>
        </p:txBody>
      </p:sp>
      <p:sp>
        <p:nvSpPr>
          <p:cNvPr id="2" name="Text Box 1"/>
          <p:cNvSpPr txBox="1"/>
          <p:nvPr/>
        </p:nvSpPr>
        <p:spPr>
          <a:xfrm>
            <a:off x="781685" y="1845945"/>
            <a:ext cx="7372985" cy="3114675"/>
          </a:xfrm>
          <a:prstGeom prst="rect">
            <a:avLst/>
          </a:prstGeom>
          <a:noFill/>
        </p:spPr>
        <p:txBody>
          <a:bodyPr wrap="square" rtlCol="0">
            <a:noAutofit/>
          </a:bodyPr>
          <a:lstStyle/>
          <a:p>
            <a:r>
              <a:rPr lang="en-US" sz="1200"/>
              <a:t>Cost of Implementation: Implementing a cafe management system can be expensive. It involves purchasing hardware, software licenses, and ongoing subscription fees. Smaller cafes with limited budgets may find it challenging to invest in such systems.</a:t>
            </a:r>
          </a:p>
          <a:p>
            <a:endParaRPr lang="en-US" sz="1200"/>
          </a:p>
          <a:p>
            <a:r>
              <a:rPr lang="en-US" sz="1200"/>
              <a:t>Learning Curve: Staff members may need time to learn how to use the cafe management system effectively. Training can be time-consuming, and some employees may resist adopting new technology.</a:t>
            </a:r>
          </a:p>
          <a:p>
            <a:endParaRPr lang="en-US" sz="1200"/>
          </a:p>
          <a:p>
            <a:r>
              <a:rPr lang="en-US" sz="1200"/>
              <a:t>Technical Issues: Like any software or hardware, cafe management systems can experience technical glitches, downtime, or compatibility issues. These issues can disrupt daily operations and customer service.</a:t>
            </a:r>
          </a:p>
          <a:p>
            <a:endParaRPr lang="en-US" sz="1200"/>
          </a:p>
          <a:p>
            <a:r>
              <a:rPr lang="en-US" sz="1200"/>
              <a:t>Maintenance and Updates: Regular maintenance and updates are essential to keep the system running smoothly and secure. Neglecting updates can lead to vulnerabilities or software incompatibility.</a:t>
            </a:r>
          </a:p>
          <a:p>
            <a:endParaRPr lang="en-US" sz="1200"/>
          </a:p>
          <a:p>
            <a:r>
              <a:rPr lang="en-US" sz="1200"/>
              <a:t>Data Security: Cafe management systems store sensitive customer and financial data. Ensuring the security of this data is crucial. A data breach could lead to legal issues and damage the cafe's reputation.</a:t>
            </a:r>
          </a:p>
          <a:p>
            <a:endParaRPr lang="en-US" sz="1200"/>
          </a:p>
          <a:p>
            <a:r>
              <a:rPr lang="en-US" sz="1200"/>
              <a:t>Limited Customization: Some cafe management systems may have limited customization options. Cafes with unique requirements may find it challenging to tailor the system to their specific needs.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Rectangle 2"/>
          <p:cNvSpPr>
            <a:spLocks noGrp="1"/>
          </p:cNvSpPr>
          <p:nvPr>
            <p:ph type="title"/>
          </p:nvPr>
        </p:nvSpPr>
        <p:spPr>
          <a:xfrm>
            <a:off x="585158" y="299049"/>
            <a:ext cx="5673725" cy="1216025"/>
          </a:xfrm>
          <a:prstGeom prst="rect">
            <a:avLst/>
          </a:prstGeom>
          <a:noFill/>
          <a:ln>
            <a:noFill/>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a:solidFill>
                  <a:srgbClr val="000099"/>
                </a:solidFill>
              </a:rPr>
              <a:t>Future Enhancement</a:t>
            </a:r>
          </a:p>
        </p:txBody>
      </p:sp>
      <p:sp>
        <p:nvSpPr>
          <p:cNvPr id="1048624" name="Text Box 1048623"/>
          <p:cNvSpPr txBox="1"/>
          <p:nvPr/>
        </p:nvSpPr>
        <p:spPr>
          <a:xfrm>
            <a:off x="-120770" y="1724913"/>
            <a:ext cx="9027373" cy="4387723"/>
          </a:xfrm>
          <a:prstGeom prst="rect">
            <a:avLst/>
          </a:prstGeom>
        </p:spPr>
        <p:txBody>
          <a:bodyPr wrap="square" rtlCol="0">
            <a:spAutoFit/>
          </a:bodyPr>
          <a:lstStyle/>
          <a:p>
            <a:pPr marL="596900" marR="1407160" algn="just">
              <a:lnSpc>
                <a:spcPct val="118000"/>
              </a:lnSpc>
              <a:spcBef>
                <a:spcPts val="1385"/>
              </a:spcBef>
              <a:tabLst>
                <a:tab pos="2514600" algn="l"/>
                <a:tab pos="2794000" algn="l"/>
              </a:tabLst>
            </a:pPr>
            <a:r>
              <a:rPr lang="en-US" sz="1600" b="0" i="0">
                <a:solidFill>
                  <a:srgbClr val="000000"/>
                </a:solidFill>
                <a:latin typeface="Times New Roman" panose="02020603050405020304"/>
                <a:ea typeface="Times New Roman" panose="02020603050405020304"/>
                <a:cs typeface="Times New Roman" panose="02020603050405020304"/>
              </a:rPr>
              <a:t>Here are some future enhancement ideas: </a:t>
            </a:r>
          </a:p>
          <a:p>
            <a:pPr marL="596900" marR="1407160" algn="just">
              <a:lnSpc>
                <a:spcPct val="118000"/>
              </a:lnSpc>
              <a:spcBef>
                <a:spcPts val="1385"/>
              </a:spcBef>
              <a:tabLst>
                <a:tab pos="2514600" algn="l"/>
                <a:tab pos="2794000" algn="l"/>
              </a:tabLst>
            </a:pPr>
            <a:r>
              <a:rPr lang="en-US" sz="1600" b="0" i="0">
                <a:solidFill>
                  <a:srgbClr val="000000"/>
                </a:solidFill>
                <a:latin typeface="Times New Roman" panose="02020603050405020304"/>
                <a:ea typeface="Times New Roman" panose="02020603050405020304"/>
                <a:cs typeface="Times New Roman" panose="02020603050405020304"/>
              </a:rPr>
              <a:t>Mobile App: Develop a mobile app that allows customers to place orders, make reservations, and receive promotions. Also, provide a mobile app for staff to manage orders and inventory on the go. </a:t>
            </a:r>
          </a:p>
          <a:p>
            <a:pPr marL="609600" marR="1407160" algn="just">
              <a:lnSpc>
                <a:spcPct val="118000"/>
              </a:lnSpc>
              <a:spcBef>
                <a:spcPts val="1385"/>
              </a:spcBef>
              <a:tabLst>
                <a:tab pos="2514600" algn="l"/>
                <a:tab pos="2794000" algn="l"/>
              </a:tabLst>
            </a:pPr>
            <a:r>
              <a:rPr lang="en-US" sz="1600" b="0" i="0">
                <a:solidFill>
                  <a:srgbClr val="000000"/>
                </a:solidFill>
                <a:latin typeface="Times New Roman" panose="02020603050405020304"/>
                <a:ea typeface="Times New Roman" panose="02020603050405020304"/>
                <a:cs typeface="Times New Roman" panose="02020603050405020304"/>
              </a:rPr>
              <a:t>Online Ordering: Integrate an online ordering system for both pickup and delivery orders, expanding the cafe's reach to a wider customer base. </a:t>
            </a:r>
          </a:p>
          <a:p>
            <a:pPr marL="596900" marR="1407160" algn="just">
              <a:lnSpc>
                <a:spcPct val="118000"/>
              </a:lnSpc>
              <a:spcBef>
                <a:spcPts val="1385"/>
              </a:spcBef>
              <a:tabLst>
                <a:tab pos="2514600" algn="l"/>
                <a:tab pos="2794000" algn="l"/>
              </a:tabLst>
            </a:pPr>
            <a:r>
              <a:rPr lang="en-US" sz="1600" b="0" i="0">
                <a:solidFill>
                  <a:srgbClr val="000000"/>
                </a:solidFill>
                <a:latin typeface="Times New Roman" panose="02020603050405020304"/>
                <a:ea typeface="Times New Roman" panose="02020603050405020304"/>
                <a:cs typeface="Times New Roman" panose="02020603050405020304"/>
              </a:rPr>
              <a:t>Kitchen Display System (KDS): Implement a KDS to improve communication between the front of house and the kitchen, reducing order processing times. </a:t>
            </a:r>
          </a:p>
          <a:p>
            <a:pPr marL="596900" marR="1407160" algn="just">
              <a:lnSpc>
                <a:spcPct val="118000"/>
              </a:lnSpc>
              <a:spcBef>
                <a:spcPts val="1385"/>
              </a:spcBef>
              <a:tabLst>
                <a:tab pos="2514600" algn="l"/>
                <a:tab pos="2794000" algn="l"/>
              </a:tabLst>
            </a:pPr>
            <a:r>
              <a:rPr lang="en-US" sz="1600" b="0" i="0">
                <a:solidFill>
                  <a:srgbClr val="000000"/>
                </a:solidFill>
                <a:latin typeface="Times New Roman" panose="02020603050405020304"/>
                <a:ea typeface="Times New Roman" panose="02020603050405020304"/>
                <a:cs typeface="Times New Roman" panose="02020603050405020304"/>
              </a:rPr>
              <a:t>Customer Feedback Portal: Create a customer feedback portal where customers can rate their dining experiences and provide comments, helping the cafe make improvements. </a:t>
            </a:r>
          </a:p>
          <a:p>
            <a:pPr marL="596900" marR="1407160" algn="just">
              <a:lnSpc>
                <a:spcPct val="118000"/>
              </a:lnSpc>
              <a:spcBef>
                <a:spcPts val="1385"/>
              </a:spcBef>
              <a:tabLst>
                <a:tab pos="2514600" algn="l"/>
                <a:tab pos="2794000" algn="l"/>
              </a:tabLst>
            </a:pPr>
            <a:r>
              <a:rPr lang="en-US" sz="1600" b="0" i="0">
                <a:solidFill>
                  <a:srgbClr val="000000"/>
                </a:solidFill>
                <a:latin typeface="Times New Roman" panose="02020603050405020304"/>
                <a:ea typeface="Times New Roman" panose="02020603050405020304"/>
                <a:cs typeface="Times New Roman" panose="02020603050405020304"/>
              </a:rPr>
              <a:t>Integration with Delivery Services: Partner with food delivery platforms (e.g., UberEats, DoorDash) for seamless integration and delivery management.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Rectangle 2"/>
          <p:cNvSpPr>
            <a:spLocks noGrp="1"/>
          </p:cNvSpPr>
          <p:nvPr>
            <p:ph type="title"/>
          </p:nvPr>
        </p:nvSpPr>
        <p:spPr>
          <a:xfrm>
            <a:off x="574675" y="381000"/>
            <a:ext cx="8001000" cy="987425"/>
          </a:xfrm>
          <a:prstGeom prst="rect">
            <a:avLst/>
          </a:prstGeom>
          <a:noFill/>
          <a:ln w="9525" cap="flat" cmpd="sng">
            <a:solidFill>
              <a:schemeClr val="lt1">
                <a:alpha val="100000"/>
              </a:schemeClr>
            </a:solidFill>
            <a:prstDash val="solid"/>
            <a:miter/>
          </a:ln>
        </p:spPr>
        <p:txBody>
          <a:bodyPr vert="horz" lIns="91440" tIns="45720" rIns="91440" bIns="45720" anchor="b"/>
          <a:lstStyle>
            <a:lvl1pPr marL="0" indent="0" algn="l" rtl="0" eaLnBrk="0" fontAlgn="base" latinLnBrk="0" hangingPunct="0">
              <a:lnSpc>
                <a:spcPct val="100000"/>
              </a:lnSpc>
              <a:spcBef>
                <a:spcPct val="0"/>
              </a:spcBef>
              <a:spcAft>
                <a:spcPct val="0"/>
              </a:spcAft>
              <a:buFontTx/>
              <a:buNone/>
              <a:defRPr sz="3800" b="0" i="0" u="none" baseline="0">
                <a:solidFill>
                  <a:schemeClr val="lt2"/>
                </a:solidFill>
                <a:latin typeface="Verdana" panose="020B0604030504040204" pitchFamily="34" charset="0"/>
                <a:sym typeface="Verdana" panose="020B0604030504040204" pitchFamily="34" charset="0"/>
              </a:defRPr>
            </a:lvl1pPr>
          </a:lstStyle>
          <a:p>
            <a:pPr lvl="0" eaLnBrk="1" hangingPunct="1"/>
            <a:r>
              <a:rPr lang="en-US" altLang="en-US" sz="4200">
                <a:solidFill>
                  <a:srgbClr val="000099"/>
                </a:solidFill>
                <a:latin typeface="Times New Roman" panose="02020603050405020304" pitchFamily="18" charset="0"/>
              </a:rPr>
              <a:t>Challenges</a:t>
            </a:r>
          </a:p>
        </p:txBody>
      </p:sp>
      <p:sp>
        <p:nvSpPr>
          <p:cNvPr id="1048685" name="Text Box 1048684"/>
          <p:cNvSpPr txBox="1"/>
          <p:nvPr/>
        </p:nvSpPr>
        <p:spPr>
          <a:xfrm>
            <a:off x="560006" y="1620522"/>
            <a:ext cx="7935742" cy="4371340"/>
          </a:xfrm>
          <a:prstGeom prst="rect">
            <a:avLst/>
          </a:prstGeom>
        </p:spPr>
        <p:txBody>
          <a:bodyPr wrap="square" rtlCol="0">
            <a:spAutoFit/>
          </a:bodyPr>
          <a:lstStyle/>
          <a:p>
            <a:r>
              <a:rPr lang="en-GB" sz="2800">
                <a:solidFill>
                  <a:srgbClr val="000000"/>
                </a:solidFill>
              </a:rPr>
              <a:t> </a:t>
            </a:r>
            <a:r>
              <a:rPr lang="en-GB" sz="1400">
                <a:solidFill>
                  <a:srgbClr val="000000"/>
                </a:solidFill>
              </a:rPr>
              <a:t>Here are some of the key challenges you may encounter:
Complexity of Operations:</a:t>
            </a:r>
          </a:p>
          <a:p>
            <a:r>
              <a:rPr lang="en-GB" sz="1400">
                <a:solidFill>
                  <a:srgbClr val="000000"/>
                </a:solidFill>
              </a:rPr>
              <a:t> Cafes have various operations, including order management, menu updates, inventory control, and customer management. Designing a system that handles all these processes seamlessly can be complex.
Integration with Hardware:</a:t>
            </a:r>
          </a:p>
          <a:p>
            <a:r>
              <a:rPr lang="en-GB" sz="1400">
                <a:solidFill>
                  <a:srgbClr val="000000"/>
                </a:solidFill>
              </a:rPr>
              <a:t> Integrating the system with POS hardware like cash registers, card readers, and receipt printers can be challenging due to compatibility issues and hardware-specific configurations.
User Interface Design: </a:t>
            </a:r>
          </a:p>
          <a:p>
            <a:r>
              <a:rPr lang="en-GB" sz="1400">
                <a:solidFill>
                  <a:srgbClr val="000000"/>
                </a:solidFill>
              </a:rPr>
              <a:t>Creating an intuitive and user-friendly interface for cafe staff is crucial. Designing a UI that simplifies complex tasks can be a challenge.
Data Security: </a:t>
            </a:r>
          </a:p>
          <a:p>
            <a:r>
              <a:rPr lang="en-GB" sz="1400">
                <a:solidFill>
                  <a:srgbClr val="000000"/>
                </a:solidFill>
              </a:rPr>
              <a:t>Protecting customer and financial data is essential. Implementing robust security measures to prevent data breaches and unauthorized access is challenging but crucial.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Rectangle 7"/>
          <p:cNvSpPr>
            <a:spLocks noGrp="1"/>
          </p:cNvSpPr>
          <p:nvPr>
            <p:ph type="subTitle" idx="4294967295"/>
          </p:nvPr>
        </p:nvSpPr>
        <p:spPr>
          <a:xfrm>
            <a:off x="1752600" y="3124200"/>
            <a:ext cx="5410200" cy="1143000"/>
          </a:xfrm>
          <a:prstGeom prst="rect">
            <a:avLst/>
          </a:prstGeom>
          <a:noFill/>
          <a:ln>
            <a:noFill/>
          </a:ln>
        </p:spPr>
        <p:txBody>
          <a:bodyPr vert="horz" lIns="91440" tIns="45720" rIns="91440" bIns="45720" anchor="t"/>
          <a:lstStyle>
            <a:lvl1pPr marL="0" algn="ctr">
              <a:buNone/>
              <a:defRPr sz="3000">
                <a:solidFill>
                  <a:schemeClr val="dk1"/>
                </a:solidFill>
              </a:defRPr>
            </a:lvl1pPr>
            <a:lvl2pPr marL="471170" algn="ctr">
              <a:buNone/>
            </a:lvl2pPr>
            <a:lvl3pPr marL="909320" algn="ctr">
              <a:buNone/>
            </a:lvl3pPr>
            <a:lvl4pPr marL="1306195" algn="ctr">
              <a:buNone/>
            </a:lvl4pPr>
            <a:lvl5pPr marL="1695450" algn="ctr">
              <a:buNone/>
            </a:lvl5pPr>
          </a:lstStyle>
          <a:p>
            <a:pPr lvl="0" algn="l" eaLnBrk="1" hangingPunct="1">
              <a:buNone/>
            </a:pPr>
            <a:r>
              <a:rPr lang="en-US" altLang="en-US" sz="6000" b="1" i="1">
                <a:solidFill>
                  <a:srgbClr val="990099"/>
                </a:solidFill>
                <a:latin typeface="Calisto MT" panose="02040603050505030304" pitchFamily="18" charset="0"/>
              </a:rPr>
              <a:t>THANK YOU</a:t>
            </a:r>
          </a:p>
        </p:txBody>
      </p:sp>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DDDDDD"/>
      </a:dk2>
      <a:lt2>
        <a:srgbClr val="000000"/>
      </a:lt2>
      <a:accent1>
        <a:srgbClr val="A3B2C1"/>
      </a:accent1>
      <a:accent2>
        <a:srgbClr val="CC0000"/>
      </a:accent2>
      <a:accent3>
        <a:srgbClr val="FFFFFF"/>
      </a:accent3>
      <a:accent4>
        <a:srgbClr val="000000"/>
      </a:accent4>
      <a:accent5>
        <a:srgbClr val="CED5DC"/>
      </a:accent5>
      <a:accent6>
        <a:srgbClr val="B70000"/>
      </a:accent6>
      <a:hlink>
        <a:srgbClr val="336699"/>
      </a:hlink>
      <a:folHlink>
        <a:srgbClr val="003366"/>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FFFFFF"/>
        </a:dk1>
        <a:lt1>
          <a:srgbClr val="800000"/>
        </a:lt1>
        <a:dk2>
          <a:srgbClr val="A50021"/>
        </a:dk2>
        <a:lt2>
          <a:srgbClr val="FFFFFF"/>
        </a:lt2>
        <a:accent1>
          <a:srgbClr val="FF9900"/>
        </a:accent1>
        <a:accent2>
          <a:srgbClr val="FF3300"/>
        </a:accent2>
        <a:accent3>
          <a:srgbClr val="C1AAAA"/>
        </a:accent3>
        <a:accent4>
          <a:srgbClr val="DCDCDC"/>
        </a:accent4>
        <a:accent5>
          <a:srgbClr val="FFCAAA"/>
        </a:accent5>
        <a:accent6>
          <a:srgbClr val="E52D00"/>
        </a:accent6>
        <a:hlink>
          <a:srgbClr val="FFFFCC"/>
        </a:hlink>
        <a:folHlink>
          <a:srgbClr val="FFCC99"/>
        </a:folHlink>
      </a:clrScheme>
      <a:clrMap bg1="lt1" tx1="dk1" bg2="lt2" tx2="dk2" accent1="accent1" accent2="accent2" accent3="accent3" accent4="accent4" accent5="accent5" accent6="accent6" hlink="hlink" folHlink="folHlink"/>
    </a:extraClrScheme>
    <a:extraClrScheme>
      <a:clrScheme name="Default Color Scheme 2">
        <a:dk1>
          <a:srgbClr val="FFFFFF"/>
        </a:dk1>
        <a:lt1>
          <a:srgbClr val="51072E"/>
        </a:lt1>
        <a:dk2>
          <a:srgbClr val="3C001E"/>
        </a:dk2>
        <a:lt2>
          <a:srgbClr val="FFFFFF"/>
        </a:lt2>
        <a:accent1>
          <a:srgbClr val="89A38F"/>
        </a:accent1>
        <a:accent2>
          <a:srgbClr val="666699"/>
        </a:accent2>
        <a:accent3>
          <a:srgbClr val="B3AAAC"/>
        </a:accent3>
        <a:accent4>
          <a:srgbClr val="DCDCDC"/>
        </a:accent4>
        <a:accent5>
          <a:srgbClr val="C4CEC6"/>
        </a:accent5>
        <a:accent6>
          <a:srgbClr val="5B5B89"/>
        </a:accent6>
        <a:hlink>
          <a:srgbClr val="808000"/>
        </a:hlink>
        <a:folHlink>
          <a:srgbClr val="666633"/>
        </a:folHlink>
      </a:clrScheme>
      <a:clrMap bg1="lt1" tx1="dk1" bg2="lt2" tx2="dk2" accent1="accent1" accent2="accent2" accent3="accent3" accent4="accent4" accent5="accent5" accent6="accent6" hlink="hlink" folHlink="folHlink"/>
    </a:extraClrScheme>
    <a:extraClrScheme>
      <a:clrScheme name="Default Color Scheme 3">
        <a:dk1>
          <a:srgbClr val="FFFFFF"/>
        </a:dk1>
        <a:lt1>
          <a:srgbClr val="000000"/>
        </a:lt1>
        <a:dk2>
          <a:srgbClr val="333333"/>
        </a:dk2>
        <a:lt2>
          <a:srgbClr val="FFFFFF"/>
        </a:lt2>
        <a:accent1>
          <a:srgbClr val="3399FF"/>
        </a:accent1>
        <a:accent2>
          <a:srgbClr val="CC0000"/>
        </a:accent2>
        <a:accent3>
          <a:srgbClr val="AAAAAA"/>
        </a:accent3>
        <a:accent4>
          <a:srgbClr val="DCDCDC"/>
        </a:accent4>
        <a:accent5>
          <a:srgbClr val="ADCAFF"/>
        </a:accent5>
        <a:accent6>
          <a:srgbClr val="B70000"/>
        </a:accent6>
        <a:hlink>
          <a:srgbClr val="666699"/>
        </a:hlink>
        <a:folHlink>
          <a:srgbClr val="6600CC"/>
        </a:folHlink>
      </a:clrScheme>
      <a:clrMap bg1="lt1" tx1="dk1" bg2="lt2" tx2="dk2" accent1="accent1" accent2="accent2" accent3="accent3" accent4="accent4" accent5="accent5" accent6="accent6" hlink="hlink" folHlink="folHlink"/>
    </a:extraClrScheme>
    <a:extraClrScheme>
      <a:clrScheme name="Default Color Scheme 4">
        <a:dk1>
          <a:srgbClr val="FFFFFF"/>
        </a:dk1>
        <a:lt1>
          <a:srgbClr val="330000"/>
        </a:lt1>
        <a:dk2>
          <a:srgbClr val="4B3D1B"/>
        </a:dk2>
        <a:lt2>
          <a:srgbClr val="FFFFFF"/>
        </a:lt2>
        <a:accent1>
          <a:srgbClr val="CC9900"/>
        </a:accent1>
        <a:accent2>
          <a:srgbClr val="CC6600"/>
        </a:accent2>
        <a:accent3>
          <a:srgbClr val="ADAAAA"/>
        </a:accent3>
        <a:accent4>
          <a:srgbClr val="DCDCDC"/>
        </a:accent4>
        <a:accent5>
          <a:srgbClr val="E2CAAA"/>
        </a:accent5>
        <a:accent6>
          <a:srgbClr val="B75B00"/>
        </a:accent6>
        <a:hlink>
          <a:srgbClr val="666699"/>
        </a:hlink>
        <a:folHlink>
          <a:srgbClr val="CCCC00"/>
        </a:folHlink>
      </a:clrScheme>
      <a:clrMap bg1="lt1" tx1="dk1" bg2="lt2" tx2="dk2" accent1="accent1" accent2="accent2" accent3="accent3" accent4="accent4" accent5="accent5" accent6="accent6" hlink="hlink" folHlink="folHlink"/>
    </a:extraClrScheme>
    <a:extraClrScheme>
      <a:clrScheme name="Default Color Scheme 5">
        <a:dk1>
          <a:srgbClr val="FFFFFF"/>
        </a:dk1>
        <a:lt1>
          <a:srgbClr val="003366"/>
        </a:lt1>
        <a:dk2>
          <a:srgbClr val="006666"/>
        </a:dk2>
        <a:lt2>
          <a:srgbClr val="FFFFFF"/>
        </a:lt2>
        <a:accent1>
          <a:srgbClr val="0099CC"/>
        </a:accent1>
        <a:accent2>
          <a:srgbClr val="6666FF"/>
        </a:accent2>
        <a:accent3>
          <a:srgbClr val="AAADB9"/>
        </a:accent3>
        <a:accent4>
          <a:srgbClr val="DCDCDC"/>
        </a:accent4>
        <a:accent5>
          <a:srgbClr val="AACAE2"/>
        </a:accent5>
        <a:accent6>
          <a:srgbClr val="5B5BE5"/>
        </a:accent6>
        <a:hlink>
          <a:srgbClr val="FFFFCC"/>
        </a:hlink>
        <a:folHlink>
          <a:srgbClr val="FFCC00"/>
        </a:folHlink>
      </a:clrScheme>
      <a:clrMap bg1="lt1" tx1="dk1" bg2="lt2" tx2="dk2" accent1="accent1" accent2="accent2" accent3="accent3" accent4="accent4" accent5="accent5" accent6="accent6" hlink="hlink" folHlink="folHlink"/>
    </a:extraClrScheme>
    <a:extraClrScheme>
      <a:clrScheme name="Default Color Scheme 6">
        <a:dk1>
          <a:srgbClr val="FFFFFF"/>
        </a:dk1>
        <a:lt1>
          <a:srgbClr val="006666"/>
        </a:lt1>
        <a:dk2>
          <a:srgbClr val="003366"/>
        </a:dk2>
        <a:lt2>
          <a:srgbClr val="FFFFFF"/>
        </a:lt2>
        <a:accent1>
          <a:srgbClr val="6699FF"/>
        </a:accent1>
        <a:accent2>
          <a:srgbClr val="00CCFF"/>
        </a:accent2>
        <a:accent3>
          <a:srgbClr val="AAB9B9"/>
        </a:accent3>
        <a:accent4>
          <a:srgbClr val="DCDCDC"/>
        </a:accent4>
        <a:accent5>
          <a:srgbClr val="B9CAFF"/>
        </a:accent5>
        <a:accent6>
          <a:srgbClr val="00B7E5"/>
        </a:accent6>
        <a:hlink>
          <a:srgbClr val="FFFFCC"/>
        </a:hlink>
        <a:folHlink>
          <a:srgbClr val="33CCCC"/>
        </a:folHlink>
      </a:clrScheme>
      <a:clrMap bg1="lt1" tx1="dk1" bg2="lt2" tx2="dk2" accent1="accent1" accent2="accent2" accent3="accent3" accent4="accent4" accent5="accent5" accent6="accent6" hlink="hlink" folHlink="folHlink"/>
    </a:extraClrScheme>
    <a:extraClrScheme>
      <a:clrScheme name="Default Color Scheme 7">
        <a:dk1>
          <a:srgbClr val="000000"/>
        </a:dk1>
        <a:lt1>
          <a:srgbClr val="619CB1"/>
        </a:lt1>
        <a:dk2>
          <a:srgbClr val="4E899E"/>
        </a:dk2>
        <a:lt2>
          <a:srgbClr val="FFFFFF"/>
        </a:lt2>
        <a:accent1>
          <a:srgbClr val="FFCC00"/>
        </a:accent1>
        <a:accent2>
          <a:srgbClr val="B6523E"/>
        </a:accent2>
        <a:accent3>
          <a:srgbClr val="B7CBD4"/>
        </a:accent3>
        <a:accent4>
          <a:srgbClr val="000000"/>
        </a:accent4>
        <a:accent5>
          <a:srgbClr val="FFE2AA"/>
        </a:accent5>
        <a:accent6>
          <a:srgbClr val="A3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Default Color Scheme 8">
        <a:dk1>
          <a:srgbClr val="FFFFFF"/>
        </a:dk1>
        <a:lt1>
          <a:srgbClr val="336600"/>
        </a:lt1>
        <a:dk2>
          <a:srgbClr val="598600"/>
        </a:dk2>
        <a:lt2>
          <a:srgbClr val="FFFFFF"/>
        </a:lt2>
        <a:accent1>
          <a:srgbClr val="33CC33"/>
        </a:accent1>
        <a:accent2>
          <a:srgbClr val="99CC00"/>
        </a:accent2>
        <a:accent3>
          <a:srgbClr val="ADB9AA"/>
        </a:accent3>
        <a:accent4>
          <a:srgbClr val="DCDCDC"/>
        </a:accent4>
        <a:accent5>
          <a:srgbClr val="ADE2AD"/>
        </a:accent5>
        <a:accent6>
          <a:srgbClr val="89B700"/>
        </a:accent6>
        <a:hlink>
          <a:srgbClr val="FFCC00"/>
        </a:hlink>
        <a:folHlink>
          <a:srgbClr val="FFFF99"/>
        </a:folHlink>
      </a:clrScheme>
      <a:clrMap bg1="lt1" tx1="dk1" bg2="lt2" tx2="dk2" accent1="accent1" accent2="accent2" accent3="accent3" accent4="accent4" accent5="accent5" accent6="accent6" hlink="hlink" folHlink="folHlink"/>
    </a:extraClrScheme>
    <a:extraClrScheme>
      <a:clrScheme name="Default Color Scheme 9">
        <a:dk1>
          <a:srgbClr val="000000"/>
        </a:dk1>
        <a:lt1>
          <a:srgbClr val="FFFFFF"/>
        </a:lt1>
        <a:dk2>
          <a:srgbClr val="DDDDDD"/>
        </a:dk2>
        <a:lt2>
          <a:srgbClr val="000000"/>
        </a:lt2>
        <a:accent1>
          <a:srgbClr val="A3B2C1"/>
        </a:accent1>
        <a:accent2>
          <a:srgbClr val="CC0000"/>
        </a:accent2>
        <a:accent3>
          <a:srgbClr val="FFFFFF"/>
        </a:accent3>
        <a:accent4>
          <a:srgbClr val="000000"/>
        </a:accent4>
        <a:accent5>
          <a:srgbClr val="CED5DC"/>
        </a:accent5>
        <a:accent6>
          <a:srgbClr val="B7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1660</Words>
  <Application>Microsoft Office PowerPoint</Application>
  <PresentationFormat>On-screen Show (4:3)</PresentationFormat>
  <Paragraphs>131</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Calisto MT</vt:lpstr>
      <vt:lpstr>Times New Roman</vt:lpstr>
      <vt:lpstr>Verdana</vt:lpstr>
      <vt:lpstr>Wingdings</vt:lpstr>
      <vt:lpstr>Office 主题</vt:lpstr>
      <vt:lpstr>Modern College of Arts,Science &amp; Commerce</vt:lpstr>
      <vt:lpstr>   Agenda</vt:lpstr>
      <vt:lpstr>     System Overview </vt:lpstr>
      <vt:lpstr>Technologies Used</vt:lpstr>
      <vt:lpstr>   Problem Definition</vt:lpstr>
      <vt:lpstr>Problem Definition (Continued..)</vt:lpstr>
      <vt:lpstr>Limitation Of The Manual System</vt:lpstr>
      <vt:lpstr>Proposed System</vt:lpstr>
      <vt:lpstr>List of Processes within the System</vt:lpstr>
      <vt:lpstr>PowerPoint Presentation</vt:lpstr>
      <vt:lpstr>E R Diagram</vt:lpstr>
      <vt:lpstr>PowerPoint Presentation</vt:lpstr>
      <vt:lpstr>First Level DFD</vt:lpstr>
      <vt:lpstr>Features of System </vt:lpstr>
      <vt:lpstr>Limitation Of the System</vt:lpstr>
      <vt:lpstr>Future Enhancement</vt:lpstr>
      <vt:lpstr>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College of Arts,Science &amp; Commerce</dc:title>
  <dc:creator>Nital</dc:creator>
  <cp:lastModifiedBy>Pankaj Bhosale</cp:lastModifiedBy>
  <cp:revision>3</cp:revision>
  <dcterms:created xsi:type="dcterms:W3CDTF">2023-10-08T06:12:05Z</dcterms:created>
  <dcterms:modified xsi:type="dcterms:W3CDTF">2024-04-01T19:07:21Z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C51CA0B9A81D43C1AA046569AA112B6D_13</vt:lpwstr>
  </property>
  <property fmtid="{D5CDD505-2E9C-101B-9397-08002B2CF9AE}" pid="3" name="KSOProductBuildVer">
    <vt:lpwstr>1033-12.2.0.13215</vt:lpwstr>
  </property>
</Properties>
</file>